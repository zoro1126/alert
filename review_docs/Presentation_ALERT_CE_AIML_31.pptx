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7EDC67-28D4-409D-A043-197229C30CE6}">
  <a:tblStyle styleId="{407EDC67-28D4-409D-A043-197229C30CE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de3e5e92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f6de3e5e92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de3e5e92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f6de3e5e92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de3e5e9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f6de3e5e9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de3e5e9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f6de3e5e9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3" title="SOU_LOGO_new-removebg (1) (9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2610" t="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3" title="SOU_LOGO_new-removebg (1) (9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3"/>
          <p:cNvGraphicFramePr/>
          <p:nvPr/>
        </p:nvGraphicFramePr>
        <p:xfrm>
          <a:off x="1041575" y="4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{407EDC67-28D4-409D-A043-197229C30CE6}</a:tableStyleId>
              </a:tblPr>
              <a:tblGrid>
                <a:gridCol w="4070375"/>
                <a:gridCol w="5948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Project ID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CE_AIML_31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No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2301030600043, </a:t>
                      </a:r>
                      <a:r>
                        <a:rPr b="1" lang="en-IN" sz="18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2301030600045, 2301030600049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Prem Deshani, Kavya Kothari, Mehulsinh Rathod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BTech. CE-AIML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IN" sz="23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Ms Vishwa Patel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805796" y="822153"/>
            <a:ext cx="10580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IN" sz="54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54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1010063491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n-IN" sz="54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A.L.E.R.T.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Bibliography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Automotive Safety Crisis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Driver fatigue causes over 20% of commercial vehicle crashes worldwide, making real-time Driver Monitoring Systems (DMS) essential.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Facial Behavioral Analysis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Uses non-invasive computer vision to analyze eye openness (EAR), yawning (MAR), PERCLOS, and head pose angles.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The Non-IoT Edge Approach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Executes 100% on-device AI inference directly on embedded hardware (Raspberry Pi 5 / NVIDIA Jetson Orin Nano).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Key Technical Advantages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Delivers sub-5ms latency, complete offline reliability, zero cellular bandwidth cost ($0/mo), and total data privacy (GDPR compliance).</a:t>
            </a:r>
            <a:endParaRPr sz="2500"/>
          </a:p>
        </p:txBody>
      </p:sp>
      <p:sp>
        <p:nvSpPr>
          <p:cNvPr id="110" name="Google Shape;110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Flaws of Cloud/IoT Architectures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Cloud-dependent systems suffer from network latency jitter (150ms–500ms+), rendering micro-sleep alerts ineffective.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Connectivity Dead Zones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Vehicles frequently navigate tunnels, mountain passes, and rural highways where 4G/5G cellular signal is lost.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Biometric Privacy Liabilities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Transmitting high-definition facial video streams to cloud servers poses severe GDPR and biometric privacy risks.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High Operating Expense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Cloud video streaming costs $15–$30/month per vehicle in cellular data and cloud server compute fees.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Edge Motivation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An autonomous, sub-5ms on-device system guarantees 100% alert reliability anywhere without recurring costs.</a:t>
            </a:r>
            <a:endParaRPr sz="2500"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Sub-5ms Compression Pipeline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Combines MediaPipe BlazeFace + Face Mesh backbones with Quantization-Aware Training (QAT INT8) for sub-5ms inference.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24/7 NIR Lighting Robustness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Implements 850nm / 940nm Near-Infrared illumination with adaptive CLAHE contrast enhancement for day &amp; night operation.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Eyewear &amp; Sunglasses Robustness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Features dual-wavelength NIR penetration and dynamic fallback to Mouth Aspect Ratio (MAR) + Head Nodding when eyes are occluded.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Personalized Calibration (&lt;10s)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Automatically calculates baseline thresholds (EAR_thresh = mean - 2.5*std) without manual configuration.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Commercial Relevance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Reduces fleet accident rates, lowers insurance liabilities, and scales easily across commercial trucking, buses, and ride-shares.</a:t>
            </a:r>
            <a:endParaRPr sz="2300"/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Soukupova &amp; Cech (2016) [R1]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Introduced Eye Aspect Ratio (EAR) using 68 facial landmarks for real-time blink and eye closure detection.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Dinges &amp; Grace (1998) [R2]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Established PERCLOS (Percentage of Eye Closure &gt;= 80% over time window) as the gold standard fatigue metric.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Garces et al. (2021) [R5]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Formulated Mouth Aspect Ratio (MAR) to quantify yawning magnitude and duration.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Dzyakanchuk et al. (2022) [R3]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Evaluated low-power CNN face detection on Raspberry Pi embedded hardware.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Research Gap Addressed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Existing literature lacks sub-5ms INT8 quantized multi-metric landmark pipelines with NIR robustness on sub-$100 edge hardware.</a:t>
            </a:r>
            <a:endParaRPr sz="2500"/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50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prevent fatal road accidents and save lives by detecting driver fatigue and micro-sleeps in real time before loss of vehicle control occurs.</a:t>
            </a:r>
            <a:endParaRPr sz="250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50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develop a completely non-intrusive safety system that monitors driver alertness using standard camera vision without requiring wearable sensors or manual driver setup.</a:t>
            </a:r>
            <a:endParaRPr sz="250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50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ensure 100 percent offline and privacy-preserving operation, enabling reliable fatigue monitoring on highways and tunnels without relying on cellular networks or cloud infrastructure.</a:t>
            </a:r>
            <a:endParaRPr sz="250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50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build an affordable, edge-deployable solution that can be easily integrated into commercial trucking fleets, public transport, and consumer vehicles.</a:t>
            </a:r>
            <a:endParaRPr sz="250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Hardware Platforms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Raspberry Pi 5 , Google Coral USB Edge TPU ($60), Hailo-8L 13 TOPS HAT, NVIDIA Jetson Orin Nano.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Optical Hardware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Near-Infrared (NIR) 850nm/940nm LED arrays, narrow bandpass optical filters, No-IR-Cut camera sensor.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Programming Runtimes: Python 3.10+ &amp; C++17 for high-performance multithreaded frame ingestion and inference.</a:t>
            </a:r>
            <a:endParaRPr sz="2500"/>
          </a:p>
          <a:p>
            <a:pPr indent="-298450" lvl="0" marL="457200" rtl="0" algn="l"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b="1" lang="en-IN" sz="2500">
                <a:latin typeface="Cambria"/>
                <a:ea typeface="Cambria"/>
                <a:cs typeface="Cambria"/>
                <a:sym typeface="Cambria"/>
              </a:rPr>
              <a:t>Landmark Extraction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MediaPipe FaceLandmarker Tasks API — 468 3D landmarks, 6.7MB TFLite model, ~8–15ms inference via XNNPACK CPU delegate, LIVE\_STREAM async mode at 640×480.</a:t>
            </a:r>
            <a:endParaRPr sz="2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Computer Vision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OpenCV 4.8+ — camera I/O (MJPG codec, 30 FPS), solvePnP head pose, eye/mouth ROI cropping, HUD rendering.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Classical ML (Model A)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LightGBM 4.0+ — gradient boosted trees on 9D feature vector; scikit-learn for preprocessing pipelines and Random Forest POC baseline.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Deep Learning (Models B &amp; C)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PyTorch 2.1+ — GRU sequence model (Model B) and CNN eye-patch classifier (Model C); ONNX Runtime 1.16+ for cross-platform edge serving.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NumPy (rolling window arrays, EAR/MAR geometry), SciPy (EMA drift adaptation), imbalanced-learn (SMOTE for L3 class imbalance).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Data Processing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Pandas (dataset loading, label alignment across UTA-RLDD / NTHU-DDD / YawDD / MRL Eye), OpenCV VideoCapture (frame extraction from video datasets).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Dev Environment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Python 3.11 in virtualenv, VS Code, Git — all inference ONNX-exportable and forward-compatible with OpenVINO (Intel NPU) and TensorRT INT8 (Jetson).</a:t>
            </a:r>
            <a:endParaRPr b="1" sz="21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UTA-RLDD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60 subjects, ~30 min per subject, ~6.4M total frames, 95 GB. Naturalistic webcam recordings in home/office environments. Labels: Alert, Low Vigilance, Drowsy (maps to L0, L1, L2). Primary training set.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NTHU-DDD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36 subjects, ~14 GB. Recorded under 4 conditions: day/night crossed with glasses/no glasses. Frame-level binary labels: Drowsy or Non-Drowsy. Added specifically for glasses occlusion and low-light robustness.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YawDD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107 subjects, ~8 GB. Dual-camera in-vehicle recording from an actual dashcam mounted below eye level inside a car. Labels: Normal, Talking, Yawning. Added to train the model on the real dashcam perspective that desk-webcam datasets cannot provide.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b="1" lang="en-IN" sz="2100">
                <a:latin typeface="Cambria"/>
                <a:ea typeface="Cambria"/>
                <a:cs typeface="Cambria"/>
                <a:sym typeface="Cambria"/>
              </a:rPr>
              <a:t>MRL Eye Dataset</a:t>
            </a:r>
            <a:r>
              <a:rPr lang="en-IN" sz="2100">
                <a:latin typeface="Cambria"/>
                <a:ea typeface="Cambria"/>
                <a:cs typeface="Cambria"/>
                <a:sym typeface="Cambria"/>
              </a:rPr>
              <a:t>: 37 subjects, 84,898 labelled eye images, ~2 GB. Covers 8 image scales, varied lighting including infrared, with and without glasses. Binary labels: open or closed per image. Used exclusively to train Model C, the CNN eye-patch classifier.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Stage 1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 - Face and Landmark Extraction: Each 640x480 frame is passed to MediaPipe FaceLandmarker, yielding 468 3D landmark coordinates. 24 anatomically selected points are extracted: 6 per eye for EAR, 8 mouth contour for MAR, and 6 solvePnP anchors (nose tip, chin, eye corners, mouth corners).</a:t>
            </a:r>
            <a:endParaRPr sz="2300">
              <a:latin typeface="Cambria"/>
              <a:ea typeface="Cambria"/>
              <a:cs typeface="Cambria"/>
              <a:sym typeface="Cambria"/>
            </a:endParaRPr>
          </a:p>
          <a:p>
            <a:pPr indent="-374650" lvl="0" marL="457200" rtl="0" algn="l"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Stage 2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 - Geometric Feature Computation: Instantaneous EAR, MAR, and MOE are computed per frame. solvePnP maps the 6 anchor landmarks to a canonical 3D face model to extract Yaw, Pitch, and Roll. EAR is corrected for head-turn foreshortening using the yaw angle.</a:t>
            </a:r>
            <a:endParaRPr sz="2300">
              <a:latin typeface="Cambria"/>
              <a:ea typeface="Cambria"/>
              <a:cs typeface="Cambria"/>
              <a:sym typeface="Cambria"/>
            </a:endParaRPr>
          </a:p>
          <a:p>
            <a:pPr indent="-374650" lvl="0" marL="457200" rtl="0" algn="l"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b="1" lang="en-IN" sz="2300">
                <a:latin typeface="Cambria"/>
                <a:ea typeface="Cambria"/>
                <a:cs typeface="Cambria"/>
                <a:sym typeface="Cambria"/>
              </a:rPr>
              <a:t>Stage 3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 - Personalised Calibration (Session Start, 10s): 300 frames of the alert driver are collected at session start. Per-driver EAR and MAR thresholds are computed from mean and standard deviation, eliminating false alarms from natural anatomical variation such as narrow eye shapes.</a:t>
            </a:r>
            <a:endParaRPr sz="2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>
                <a:latin typeface="Cambria"/>
                <a:ea typeface="Cambria"/>
                <a:cs typeface="Cambria"/>
                <a:sym typeface="Cambria"/>
              </a:rPr>
              <a:t>Stage 4</a:t>
            </a:r>
            <a:r>
              <a:rPr lang="en-IN" sz="2000">
                <a:latin typeface="Cambria"/>
                <a:ea typeface="Cambria"/>
                <a:cs typeface="Cambria"/>
                <a:sym typeface="Cambria"/>
              </a:rPr>
              <a:t> - Temporal Feature Engineering: A 9-dimensional feature vector (EAR, EAR std dev, PERCLOS, Blink Rate, Blink Duration, MAR, Yawn Count, Head Pitch, MOE) is assembled using 5-second short-term and 60-second long-term rolling windows. A slow exponential moving average continuously adapts the baseline for lighting drift over long drives.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>
                <a:latin typeface="Cambria"/>
                <a:ea typeface="Cambria"/>
                <a:cs typeface="Cambria"/>
                <a:sym typeface="Cambria"/>
              </a:rPr>
              <a:t>Stage 5</a:t>
            </a:r>
            <a:r>
              <a:rPr lang="en-IN" sz="2000">
                <a:latin typeface="Cambria"/>
                <a:ea typeface="Cambria"/>
                <a:cs typeface="Cambria"/>
                <a:sym typeface="Cambria"/>
              </a:rPr>
              <a:t> - Ensemble Classification: Model A (LightGBM) classifies the 9D vector per frame with a weight of 0.50. Model B (GRU, 32 hidden units) classifies a 5-second sequence of 4 key features every 5 seconds, detecting gradual fatigue trends invisible to per-frame classifiers, with a weight of 0.30. Model C (tiny CNN) classifies a raw 32x16 pixel eye crop per frame, independent of landmark accuracy, providing redundancy under glasses or glare, with a weight of 0.20. The three probability outputs are fused via weighted soft vote to produce a final L0 to L3 prediction. A hard safety override forces L3 if severe eye closure is detected regardless of the fusion result.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>
                <a:latin typeface="Cambria"/>
                <a:ea typeface="Cambria"/>
                <a:cs typeface="Cambria"/>
                <a:sym typeface="Cambria"/>
              </a:rPr>
              <a:t>Stage 6</a:t>
            </a:r>
            <a:r>
              <a:rPr lang="en-IN" sz="2000">
                <a:latin typeface="Cambria"/>
                <a:ea typeface="Cambria"/>
                <a:cs typeface="Cambria"/>
                <a:sym typeface="Cambria"/>
              </a:rPr>
              <a:t> - Alert Output and HUD: Fatigue level drives tiered alerts (L1 amber chime, L2 repeated alarm, L3 critical alert). A 30 FPS overlay displays live fatigue level, per-model probabilities, all 9 signal values, and calibration status on the camera stream.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Bibliography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[1] Soukupova, T., &amp; Cech, J. (2016). Real-Time Eye Blink Detection Using Facial Landmarks. Computer Vision Winter Workshop.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[2] Dinges, D. F., &amp; Grace, R. (1998). PERCLOS: A Valid Psychophysiological Measure of Alertness. US Dept of Transportation.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[3] Dzyakanchuk, A., et al. (2022). Low-Power Face Detection on Raspberry Pi for Automotive DMS. IEEE Access.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[4] Acharjee, S., et al. (2020). Edge-Based Driver Drowsiness Monitoring on Embedded Hardware. SN Computer Science.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[5] Garces, M., et al. (2021). Automated Yawn Detection Using Mouth Aspect Ratio. IEEE Sensors Journal.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[6] MediaPipe Face Mesh Topology (468 3D Landmarks). Google AI Edge Documentation (2023).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[7] NVIDIA TensorRT INT8 Developer Guide for Jetson Orin Platform (2024).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[8] Hailo-8L Dataflow Compiler &amp; Software Suite User Guide (2024).</a:t>
            </a:r>
            <a:endParaRPr sz="1900"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