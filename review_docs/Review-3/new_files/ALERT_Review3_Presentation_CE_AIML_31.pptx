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  <p:sldId id="268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7EDC67-28D4-409D-A043-197229C30CE6}">
  <a:tblStyle styleId="{407EDC67-28D4-409D-A043-197229C30CE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43" y="1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7f9a4c8fa777841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h7f9a4c8fa777841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de3e5e92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f6de3e5e9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de3e5e9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f6de3e5e9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de3e5e92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f6de3e5e9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de3e5e9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f6de3e5e9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7f9a4c8fa777841d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h7f9a4c8fa777841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7f9a4c8fa777841d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h7f9a4c8fa777841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7f9a4c8fa777841d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h7f9a4c8fa777841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3" title="SOU_LOGO_new-removebg (1) (9)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-18600" y="3875476"/>
            <a:ext cx="12204300" cy="29826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endParaRPr sz="3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3" title="SOU_LOGO_new-removebg (1) (9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13"/>
          <p:cNvGraphicFramePr/>
          <p:nvPr/>
        </p:nvGraphicFramePr>
        <p:xfrm>
          <a:off x="1041575" y="4066800"/>
          <a:ext cx="10019325" cy="2666850"/>
        </p:xfrm>
        <a:graphic>
          <a:graphicData uri="http://schemas.openxmlformats.org/drawingml/2006/table">
            <a:tbl>
              <a:tblPr>
                <a:noFill/>
                <a:tableStyleId>{407EDC67-28D4-409D-A043-197229C30CE6}</a:tableStyleId>
              </a:tblPr>
              <a:tblGrid>
                <a:gridCol w="407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Project ID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CE_AIML_31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Enrollment No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2301030600043, 2301030600045, 2301030600049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Prem Deshani, Kavya Kothari, Mehulsinh Rathod</a:t>
                      </a:r>
                      <a:endParaRPr sz="2000" b="1" u="none" strike="noStrike" cap="non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Branch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B.Tech. Computer Engineering (AI &amp; ML)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Guide Name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Ms. Vishwa Patel</a:t>
                      </a:r>
                      <a:endParaRPr sz="2000" b="1" u="none" strike="noStrike" cap="non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" name="Google Shape;97;p13"/>
          <p:cNvSpPr txBox="1"/>
          <p:nvPr/>
        </p:nvSpPr>
        <p:spPr>
          <a:xfrm>
            <a:off x="805796" y="640000"/>
            <a:ext cx="10580400" cy="281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48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  <a:endParaRPr sz="48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1010063491</a:t>
            </a:r>
            <a:endParaRPr sz="48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48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A.L.E.R.T.</a:t>
            </a:r>
            <a:endParaRPr sz="48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2200" b="0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Landmark-based Eye and Response Tracker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Introduction and Problem Context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Background, Motivation and Relevance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Literature Review and Research Gap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Objectives and Milestones Achieved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Dataset, Tools and Hardware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Methodology: Kinematic Channels and Ordinal Loss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Architecture: Edge Model Triad and Ensemble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Results: Holdout Performance and Edge Latency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System Verification, Conclusion and Future Work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lang="en-IN" sz="24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Index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Road Safety Crisis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Driver fatigue and micro-sleeps contribute to over 20% of fatal collisions worldwide; road crashes cause 1.19 million deaths a year [1], [2].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Regulatory Mandates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EU GSR 2019/2144 and Euro NCAP 2026 require real-time Driver Monitoring Systems (DMS) in new passenger vehicles [15].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ALERT Edge Solution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A fully offline framework that extracts 468 3D facial landmarks with MediaPipe Tasks to track driver vigilance [3], [5], [14].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Temporal Deep Learning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A heterogeneous ensemble of CNN-GRU, TCN and BiGRU networks reads 12 kinematic channels over 8-second windows.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Commodity Hardware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A single CNN-GRU model runs at 65.3 FPS on a standard CPU within a footprint under 800 MB, with no in-cabin GPU required.</a:t>
            </a:r>
            <a:endParaRPr lang="en-IN" sz="24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Physics of Micro-Sleeps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A 2.5 s micro-sleep at 100 km/h means about 70 m of uncontrolled travel [1], [4].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Cloud DMS Unreliability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Cloud systems add 150–500 ms of latency jitter, incur cellular costs and fail in tunnels and rural dead zones.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Biometric Privacy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Streaming in-cabin facial video creates GDPR, CCPA and biometric-data compliance liabilities.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Hardware Cost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Commercial vision systems rely on 3D-CNN or YOLO backbones that need accelerators drawing 30 W or more [6].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Motivation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Build a private, sub-20 ms DMS that deploys on commodity laptop and embedded processors [3].</a:t>
            </a:r>
            <a:endParaRPr lang="en-IN" sz="24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Personal Calibration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A 15-second resting baseline removes eye-shape bias and suppresses false alarms for narrow-eyed drivers [7].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12-Channel Kinematic Fusion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Relative EAR, MAR, head pose, blink duration and the velocities ΔEAR, ΔMAR and ΔPitch feed continuous sliding windows [11].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Fleet Deployability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Suited to trucking fleets, buses and ride-hailing services using off-the-shelf USB webcams.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No Sensor Retrofit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Single-camera monitoring avoids infrared eye-trackers, EEG headbands and capacitive steering wheels.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Deterministic Edge Safety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Sub-16 ms model latency supports immediate visual and audio alerts.</a:t>
            </a:r>
            <a:endParaRPr lang="en-IN" sz="24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Relevance and Industrial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609600" y="1500000"/>
          <a:ext cx="10972800" cy="4474016"/>
        </p:xfrm>
        <a:graphic>
          <a:graphicData uri="http://schemas.openxmlformats.org/drawingml/2006/table">
            <a:tbl>
              <a:tblPr firstRow="1" bandRow="1"/>
              <a:tblGrid>
                <a:gridCol w="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Reference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Architecture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Dataset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Result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Key Findings and Limitations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Liu et al. (2022) [1]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CNN-LSTM hybrid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Private driving video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94.2% accuracy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Validates temporal modeling over single-frame detection; lacks baseline calibration.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Sengupta et al. (2023) [2]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Systematic review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Survey (NTHU, UTA-RLDD)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Benchmark study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Confirms hybrid geometric-temporal models balance accuracy and latency best.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Farooq et al. (2024) [3]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VigilEye (landmark, CPU)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Custom webcam stream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&lt;45 ms latency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Shows landmark pipelines on CPU are viable for real-time embedded DMS.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Ghoddoosian et al. (2021) [4]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UTA-RLDD baseline (HMM)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UTA-RLDD (60 subjects)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65.2% macro-F1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Established the naturalistic drowsiness benchmark; highlights subject variance.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Choi &amp; Park (2023) [5]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MediaPipe + PERCLOS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Simulated video stream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93.8% accuracy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Finds MediaPipe Face Mesh 3× faster than dlib on commodity CPUs.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Literature Review: Part 1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609600" y="1500000"/>
          <a:ext cx="10972800" cy="4464672"/>
        </p:xfrm>
        <a:graphic>
          <a:graphicData uri="http://schemas.openxmlformats.org/drawingml/2006/table">
            <a:tbl>
              <a:tblPr firstRow="1" bandRow="1"/>
              <a:tblGrid>
                <a:gridCol w="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Reference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Architecture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Dataset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Result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Key Findings and Limitations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Al-Haija et al. (2023) [6]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YOLOv8-Nano DMS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Real-time webcam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91.5% mAP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Lightweight detector, but has no long-range temporal memory across frames.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Zhang et al. (2022) [7]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Adaptive EAR threshold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NTHU-DDD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96.1% accuracy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Justifies driver-specific calibration to avoid false alarms from narrow eyes.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Babu et al. (2021) [8]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Keypoints + BiLSTM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In-house video corpus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95.4% accuracy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Bidirectional recurrent units capture the onset of blink patterns.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Kumar et al. (2024) [9]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SAFE-DRIVE-AI (attention)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Multi-modal DMS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97.2% recall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Temporal self-attention weights critical micro-sleep frames highly.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10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Martinez et al. (2023) [10]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Head pose + landmark fusion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Driving simulator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94.8% accuracy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Fusing head pitch with eye closure detects nodding and fatigue.</a:t>
                      </a:r>
                      <a:endParaRPr lang="en-IN" sz="16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Literature Review: Part 2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Anatomical Baseline Disparity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Across 48 subjects, resting open-eye EAR spans 0.18–0.45 (a 2.5× spread), so static thresholds label narrow-eyed alert drivers as drowsy.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Session-Level Labels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UTA-RLDD labels cover 10-minute sessions, so open-eyed Low-Vigilant frames overlap geometrically with Alert frames.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Data-Leakage Inflation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Reports above 90% accuracy on UTA-RLDD use random frame splits; strict subject-independent evaluation caps F1 at about 52–58%.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Central Attractor Collapse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Symmetric cross-entropy treats boundary classes equally and pulls optimizers toward the middle class (86% LowVig recall).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Window Truncation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3–4 s windows cut off yawn cycles (3.5–5.5 s) and head-nod recoveries (2.0–4.5 s).</a:t>
            </a:r>
            <a:endParaRPr lang="en-IN" sz="23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Real-Time Edge Inference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Sequence models under 20 ms on a single CPU thread, no GPU. 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Achieved: 15.30 ms (65.3 FPS).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Personal Calibration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A 15-second open-eye baseline maps any face to a canonical scale. 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Achieved: stable in live webcam tests.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Kinematic Velocity Pipeline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12 geometric channels capture eyelid, mouth and head velocity over 8.0 s windows. 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Achieved: T = 120, F = 12.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Ordinal Loss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Alert-vs-Drowsy errors cost 4× more than boundary errors. 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Achieved: λ</a:t>
            </a:r>
            <a:r>
              <a:rPr lang="en-IN" sz="2300" b="1" baseline="-25000">
                <a:latin typeface="Cambria"/>
                <a:ea typeface="Cambria"/>
                <a:cs typeface="Cambria"/>
                <a:sym typeface="Cambria"/>
              </a:rPr>
              <a:t>ord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 = 0.35.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Complete System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9-model ensemble, debounced two-tier alarm and HUD. 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Achieved: 57/57 integration tests pass.</a:t>
            </a:r>
            <a:endParaRPr lang="en-IN" sz="23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Objectives and Milestones Achieved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UTA-RLDD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60 subjects and 141 HD video recordings (about 2.54 million frames) with natural circadian fatigue progression [4].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Subject-Independent Folds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3-fold cross-validation with no subject overlap (Fold 1: subjects 01–15; Fold 2: 16–30; Fold 3: 31–45).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Two-Pass Extraction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Pass 1 takes personal baselines (EAR</a:t>
            </a:r>
            <a:r>
              <a:rPr lang="en-IN" sz="2300" baseline="-25000">
                <a:latin typeface="Cambria"/>
                <a:ea typeface="Cambria"/>
                <a:cs typeface="Cambria"/>
                <a:sym typeface="Cambria"/>
              </a:rPr>
              <a:t>base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, Pitch</a:t>
            </a:r>
            <a:r>
              <a:rPr lang="en-IN" sz="2300" baseline="-25000">
                <a:latin typeface="Cambria"/>
                <a:ea typeface="Cambria"/>
                <a:cs typeface="Cambria"/>
                <a:sym typeface="Cambria"/>
              </a:rPr>
              <a:t>base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) from Alert videos only; Pass 2 extracts calibrated 120-frame sequences.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Faster Decoding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Grabbing compressed packets with cap.grab() skips full decoding of dropped frames, giving an 8.9× extraction speedup.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Sequence Cache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26,050 calibrated sequences, tensor shape (26050, 120, 12), normalized the same way as live inference.</a:t>
            </a:r>
            <a:endParaRPr lang="en-IN" sz="23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Dataset and Preprocessing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Deep Learning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PyTorch 2.x, automatic mixed precision (fp16), Intel MKL and OpenMP CPU kernels.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Facial Geometry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MediaPipe Tasks FaceLandmarker with the XNNPACK CPU delegate; 468 3D landmarks at about 15 ms [3], [5], [14].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Computer Vision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OpenCV (VideoCapture, MJPG stream, solvePnP head pose with Levenberg–Marquardt optimization), NumPy, SciPy.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Audio and HUD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Pygame procedural tone and siren synthesis with no external assets; OpenCV telemetry overlay.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Test Hardware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Intel Core i7 / AMD Ryzen CPU (single thread), NVIDIA RTX 3050 Laptop GPU, 720p USB webcam, under 800 MB RAM.</a:t>
            </a:r>
            <a:endParaRPr lang="en-IN" sz="23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IN" sz="2200" b="1">
                <a:latin typeface="Cambria"/>
                <a:ea typeface="Cambria"/>
                <a:cs typeface="Cambria"/>
                <a:sym typeface="Cambria"/>
              </a:rPr>
              <a:t>Stage 1, Landmarks</a:t>
            </a: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: A 640×480 frame goes to MediaPipe Tasks, which returns 468 3D landmarks in about 15 ms.</a:t>
            </a:r>
            <a:endParaRPr lang="en-IN" sz="22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IN" sz="2200" b="1">
                <a:latin typeface="Cambria"/>
                <a:ea typeface="Cambria"/>
                <a:cs typeface="Cambria"/>
                <a:sym typeface="Cambria"/>
              </a:rPr>
              <a:t>Stage 2, Kinematic Differentials</a:t>
            </a: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: Velocity of each signal over δt = 1/FPS:</a:t>
            </a:r>
            <a:endParaRPr lang="en-IN" sz="2200"/>
          </a:p>
          <a:p>
            <a:pPr marL="34290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2200" i="1">
                <a:latin typeface="Cambria"/>
                <a:ea typeface="Cambria"/>
                <a:cs typeface="Cambria"/>
                <a:sym typeface="Cambria"/>
              </a:rPr>
              <a:t>Δx(t) = [x(t) − x(t − δt)] / δt,   x ∈ {EAR, MAR, Pitch}</a:t>
            </a:r>
            <a:endParaRPr lang="en-IN" sz="2200"/>
          </a:p>
          <a:p>
            <a:pPr marL="74295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ΔEAR separates snap blinks from slow micro-sleep re-opening.</a:t>
            </a:r>
            <a:endParaRPr lang="en-IN" sz="2200"/>
          </a:p>
          <a:p>
            <a:pPr marL="74295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ΔMAR separates rapid speech from continuous yawn expansion.</a:t>
            </a:r>
            <a:endParaRPr lang="en-IN" sz="2200"/>
          </a:p>
          <a:p>
            <a:pPr marL="74295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ΔPitch captures sudden downward head drops and startle jerks.</a:t>
            </a:r>
            <a:endParaRPr lang="en-IN" sz="22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IN" sz="2200" b="1">
                <a:latin typeface="Cambria"/>
                <a:ea typeface="Cambria"/>
                <a:cs typeface="Cambria"/>
                <a:sym typeface="Cambria"/>
              </a:rPr>
              <a:t>Stage 3, Calibrated PERCLOS (P</a:t>
            </a:r>
            <a:r>
              <a:rPr lang="en-IN" sz="2200" b="1" baseline="-25000">
                <a:latin typeface="Cambria"/>
                <a:ea typeface="Cambria"/>
                <a:cs typeface="Cambria"/>
                <a:sym typeface="Cambria"/>
              </a:rPr>
              <a:t>60</a:t>
            </a:r>
            <a:r>
              <a:rPr lang="en-IN" sz="2200" b="1"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: Share of frames in the rolling buffer with EAR(t) &lt; 0.75 × EAR</a:t>
            </a:r>
            <a:r>
              <a:rPr lang="en-IN" sz="2200" baseline="-25000">
                <a:latin typeface="Cambria"/>
                <a:ea typeface="Cambria"/>
                <a:cs typeface="Cambria"/>
                <a:sym typeface="Cambria"/>
              </a:rPr>
              <a:t>base</a:t>
            </a: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.</a:t>
            </a:r>
            <a:endParaRPr lang="en-IN" sz="22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IN" sz="2200" b="1">
                <a:latin typeface="Cambria"/>
                <a:ea typeface="Cambria"/>
                <a:cs typeface="Cambria"/>
                <a:sym typeface="Cambria"/>
              </a:rPr>
              <a:t>Stage 4, Biological Windows</a:t>
            </a: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: 120-frame sliding windows (8.0 s at 15 FPS) hold whole yawn cycles and nod recoveries.</a:t>
            </a:r>
            <a:endParaRPr lang="en-IN" sz="22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Methodology: Kinematic Pipeline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Baseline Normalization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Maps any face to a scale where 1.0 is open and ≤ 0.5 is closed eyes:</a:t>
            </a:r>
            <a:endParaRPr lang="en-IN" sz="2400"/>
          </a:p>
          <a:p>
            <a:pPr marL="34290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EAR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rel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(t) = EAR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avg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(t) / EAR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base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,     Pitch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rel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(t) = Pitch(t) − Pitch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base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Baseline Variance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Measured baselines span 0.18–0.45 (2.5×), so a static threshold fails across subjects.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Ordinal Focal Loss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Balanced focal loss [13] plus a quadratic ordinal penalty:</a:t>
            </a:r>
            <a:endParaRPr lang="en-IN" sz="2400"/>
          </a:p>
          <a:p>
            <a:pPr marL="34290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total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 = L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Focal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 + λ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ord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 Σ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c=0..2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 p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 (c − y</a:t>
            </a:r>
            <a:r>
              <a:rPr lang="en-IN" sz="2400" i="1" baseline="-25000">
                <a:latin typeface="Cambria"/>
                <a:ea typeface="Cambria"/>
                <a:cs typeface="Cambria"/>
                <a:sym typeface="Cambria"/>
              </a:rPr>
              <a:t>true</a:t>
            </a:r>
            <a:r>
              <a:rPr lang="en-IN" sz="2400" i="1"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lang="en-IN" sz="2400" i="1" baseline="30000">
                <a:latin typeface="Cambria"/>
                <a:ea typeface="Cambria"/>
                <a:cs typeface="Cambria"/>
                <a:sym typeface="Cambria"/>
              </a:rPr>
              <a:t>2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Asymmetric Penalty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For an Alert sample (y = 0), predicting LowVig costs 1² = 1 and predicting Drowsy costs 2² = 4, a 4× stronger push; λ</a:t>
            </a:r>
            <a:r>
              <a:rPr lang="en-IN" sz="2400" baseline="-25000">
                <a:latin typeface="Cambria"/>
                <a:ea typeface="Cambria"/>
                <a:cs typeface="Cambria"/>
                <a:sym typeface="Cambria"/>
              </a:rPr>
              <a:t>ord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= 0.35.</a:t>
            </a:r>
            <a:endParaRPr lang="en-IN" sz="24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Methodology: Calibration and Loss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Triad Diversity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Three models with different inductive biases remove single-architecture blind spots within an edge memory budget [12].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HybridCNNGRU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(18,131 parameters, 0.069 MB): 1D-CNN (12 to 32 channels, k = 3; 32 to 64, k = 5) filters local blink velocity; a GRU (hidden 48) with Bahdanau attention tracks fatigue onset.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TCNClassifier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(96,499 parameters, 0.368 MB): 5 causal dilated residual blocks (d = 1, 2, 4, 8, 16; k = 3) give a 125-frame receptive field for yawns and head droop [12].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BiGRUAttention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(37,971 parameters, 0.145 MB): Bidirectional GRU (hidden 36×2) with 4-head self-attention models both eye-closure onset and recovery.</a:t>
            </a:r>
            <a:endParaRPr lang="en-IN" sz="24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Architecture: Edge Model Triad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Soft-Voting Fusion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Averages class probabilities over M = 9 models to cancel single-model bias:</a:t>
            </a:r>
            <a:endParaRPr lang="en-IN" sz="2300"/>
          </a:p>
          <a:p>
            <a:pPr marL="34290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2300" i="1"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IN" sz="2300" i="1" baseline="-25000">
                <a:latin typeface="Cambria"/>
                <a:ea typeface="Cambria"/>
                <a:cs typeface="Cambria"/>
                <a:sym typeface="Cambria"/>
              </a:rPr>
              <a:t>avg</a:t>
            </a:r>
            <a:r>
              <a:rPr lang="en-IN" sz="2300" i="1">
                <a:latin typeface="Cambria"/>
                <a:ea typeface="Cambria"/>
                <a:cs typeface="Cambria"/>
                <a:sym typeface="Cambria"/>
              </a:rPr>
              <a:t>(c) = (1/M) Σ</a:t>
            </a:r>
            <a:r>
              <a:rPr lang="en-IN" sz="2300" i="1" baseline="-25000">
                <a:latin typeface="Cambria"/>
                <a:ea typeface="Cambria"/>
                <a:cs typeface="Cambria"/>
                <a:sym typeface="Cambria"/>
              </a:rPr>
              <a:t>m=1..M</a:t>
            </a:r>
            <a:r>
              <a:rPr lang="en-IN" sz="2300" i="1">
                <a:latin typeface="Cambria"/>
                <a:ea typeface="Cambria"/>
                <a:cs typeface="Cambria"/>
                <a:sym typeface="Cambria"/>
              </a:rPr>
              <a:t> P</a:t>
            </a:r>
            <a:r>
              <a:rPr lang="en-IN" sz="2300" i="1" baseline="-250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en-IN" sz="2300" i="1">
                <a:latin typeface="Cambria"/>
                <a:ea typeface="Cambria"/>
                <a:cs typeface="Cambria"/>
                <a:sym typeface="Cambria"/>
              </a:rPr>
              <a:t>(c | W),     c ∈ {0, 1, 2}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Online EMA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α = 0.35 (half-life about 106 ms) removes single-frame flicker:</a:t>
            </a:r>
            <a:endParaRPr lang="en-IN" sz="2300"/>
          </a:p>
          <a:p>
            <a:pPr marL="34290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2300" i="1"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IN" sz="2300" i="1" baseline="-25000">
                <a:latin typeface="Cambria"/>
                <a:ea typeface="Cambria"/>
                <a:cs typeface="Cambria"/>
                <a:sym typeface="Cambria"/>
              </a:rPr>
              <a:t>ema,t</a:t>
            </a:r>
            <a:r>
              <a:rPr lang="en-IN" sz="2300" i="1">
                <a:latin typeface="Cambria"/>
                <a:ea typeface="Cambria"/>
                <a:cs typeface="Cambria"/>
                <a:sym typeface="Cambria"/>
              </a:rPr>
              <a:t>(c) = α P</a:t>
            </a:r>
            <a:r>
              <a:rPr lang="en-IN" sz="2300" i="1" baseline="-25000">
                <a:latin typeface="Cambria"/>
                <a:ea typeface="Cambria"/>
                <a:cs typeface="Cambria"/>
                <a:sym typeface="Cambria"/>
              </a:rPr>
              <a:t>avg,t</a:t>
            </a:r>
            <a:r>
              <a:rPr lang="en-IN" sz="2300" i="1">
                <a:latin typeface="Cambria"/>
                <a:ea typeface="Cambria"/>
                <a:cs typeface="Cambria"/>
                <a:sym typeface="Cambria"/>
              </a:rPr>
              <a:t>(c) + (1 − α) P</a:t>
            </a:r>
            <a:r>
              <a:rPr lang="en-IN" sz="2300" i="1" baseline="-25000">
                <a:latin typeface="Cambria"/>
                <a:ea typeface="Cambria"/>
                <a:cs typeface="Cambria"/>
                <a:sym typeface="Cambria"/>
              </a:rPr>
              <a:t>ema,t−1</a:t>
            </a:r>
            <a:r>
              <a:rPr lang="en-IN" sz="2300" i="1">
                <a:latin typeface="Cambria"/>
                <a:ea typeface="Cambria"/>
                <a:cs typeface="Cambria"/>
                <a:sym typeface="Cambria"/>
              </a:rPr>
              <a:t>(c)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Two-Tier Debounced State Machine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</a:t>
            </a:r>
            <a:endParaRPr lang="en-IN" sz="2300"/>
          </a:p>
          <a:p>
            <a:pPr marL="74295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300"/>
              <a:buFont typeface="Arial"/>
              <a:buChar char="–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IN" sz="2300" baseline="-25000">
                <a:latin typeface="Cambria"/>
                <a:ea typeface="Cambria"/>
                <a:cs typeface="Cambria"/>
                <a:sym typeface="Cambria"/>
              </a:rPr>
              <a:t>ema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(Alert) ≥ 0.50: 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NORMAL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 (green HUD, alarm counters reset).</a:t>
            </a:r>
            <a:endParaRPr lang="en-IN" sz="2300"/>
          </a:p>
          <a:p>
            <a:pPr marL="74295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300"/>
              <a:buFont typeface="Arial"/>
              <a:buChar char="–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IN" sz="2300" baseline="-25000">
                <a:latin typeface="Cambria"/>
                <a:ea typeface="Cambria"/>
                <a:cs typeface="Cambria"/>
                <a:sym typeface="Cambria"/>
              </a:rPr>
              <a:t>ema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(LowVig) ≥ 0.50 for ≥ 3.0 s (45 frames): 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WARNING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 (yellow HUD, single chime).</a:t>
            </a:r>
            <a:endParaRPr lang="en-IN" sz="2300"/>
          </a:p>
          <a:p>
            <a:pPr marL="74295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300"/>
              <a:buFont typeface="Arial"/>
              <a:buChar char="–"/>
            </a:pP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IN" sz="2300" baseline="-25000">
                <a:latin typeface="Cambria"/>
                <a:ea typeface="Cambria"/>
                <a:cs typeface="Cambria"/>
                <a:sym typeface="Cambria"/>
              </a:rPr>
              <a:t>ema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(Drowsy) ≥ 0.45 for ≥ 1.5 s (22 frames): </a:t>
            </a: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CRITICAL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 (red HUD, repeating siren).</a:t>
            </a:r>
            <a:endParaRPr lang="en-IN" sz="23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Architecture: Ensemble and Alert Logic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Phase 1, Central Attractor Collapse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The first BiGRU labeled 86.0% of samples Low Vigilant (macro-F1 0.3428). Fixed with ordinal focal loss and a quadratic distance penalty.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Phase 2, Validation Divergence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Validation loss rose from 0.61 to 0.74 because of camera-mount angle bias. Fixed with window pose median centering and AdamW weight decay (1×10</a:t>
            </a:r>
            <a:r>
              <a:rPr lang="en-IN" sz="2300" baseline="30000">
                <a:latin typeface="Cambria"/>
                <a:ea typeface="Cambria"/>
                <a:cs typeface="Cambria"/>
                <a:sym typeface="Cambria"/>
              </a:rPr>
              <a:t>−2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).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Phase 3, Train-Serve Skew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Window-p90 normalization erased absolute eye closure, so alert live users read as Low Vigilant. Fixed with personal Alert-baseline scaling.</a:t>
            </a:r>
            <a:endParaRPr lang="en-IN" sz="2300"/>
          </a:p>
          <a:p>
            <a:pPr marL="34290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IN" sz="2300" b="1">
                <a:latin typeface="Cambria"/>
                <a:ea typeface="Cambria"/>
                <a:cs typeface="Cambria"/>
                <a:sym typeface="Cambria"/>
              </a:rPr>
              <a:t>Window Length</a:t>
            </a:r>
            <a:r>
              <a:rPr lang="en-IN" sz="2300">
                <a:latin typeface="Cambria"/>
                <a:ea typeface="Cambria"/>
                <a:cs typeface="Cambria"/>
                <a:sym typeface="Cambria"/>
              </a:rPr>
              <a:t>: Extending windows to 120 frames (8.0 s) removed yawn-truncation errors.</a:t>
            </a:r>
            <a:endParaRPr lang="en-IN" sz="23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Results: Training Challenges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609600" y="1400000"/>
          <a:ext cx="10972800" cy="3355000"/>
        </p:xfrm>
        <a:graphic>
          <a:graphicData uri="http://schemas.openxmlformats.org/drawingml/2006/table">
            <a:tbl>
              <a:tblPr firstRow="1" bandRow="1"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Model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Holdout fold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Macro-F1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Accuracy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F1 Alert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F1 LowVig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F1 Drowsy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CNN-GRU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0.5252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52.54%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0.4801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0.5076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0.5878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CNN-GRU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0.4945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49.89%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0.4397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0.4466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0.5973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CNN-GRU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3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0.6062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60.37%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0.6622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0.5118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0.6445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TCN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0.4986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49.51%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0.5502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0.3989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0.5468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TCN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0.4872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50.46%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0.4122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0.3870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0.6623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TCN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3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0.5430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54.52%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0.6407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0.4367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0.5516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BiGRU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0.5361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53.43%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0.5161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0.5132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0.5789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BiGRU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0.4741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47.67%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0.4486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0.4021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0.5715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BiGRU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Fold 3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0.5472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54.63%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0.5826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0.4311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0.6280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Ensemble average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—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0.5236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52.56%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0.5258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0.4483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0.5965</a:t>
                      </a:r>
                      <a:endParaRPr lang="en-IN" sz="14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4750000"/>
            <a:ext cx="109728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800" b="1">
                <a:latin typeface="Cambria"/>
                <a:ea typeface="Cambria"/>
                <a:cs typeface="Cambria"/>
                <a:sym typeface="Cambria"/>
              </a:rPr>
              <a:t>Ensemble mean</a:t>
            </a:r>
            <a:r>
              <a:rPr lang="en-IN" sz="1800">
                <a:latin typeface="Cambria"/>
                <a:ea typeface="Cambria"/>
                <a:cs typeface="Cambria"/>
                <a:sym typeface="Cambria"/>
              </a:rPr>
              <a:t>: 0.5236 macro-F1 and 52.56% accuracy on unseen subjects, within the 52–58% range expected for strict subject-independent evaluation.</a:t>
            </a:r>
            <a:endParaRPr lang="en-IN" sz="1800"/>
          </a:p>
          <a:p>
            <a:pPr marL="34290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800" b="1">
                <a:latin typeface="Cambria"/>
                <a:ea typeface="Cambria"/>
                <a:cs typeface="Cambria"/>
                <a:sym typeface="Cambria"/>
              </a:rPr>
              <a:t>Best single model</a:t>
            </a:r>
            <a:r>
              <a:rPr lang="en-IN" sz="1800">
                <a:latin typeface="Cambria"/>
                <a:ea typeface="Cambria"/>
                <a:cs typeface="Cambria"/>
                <a:sym typeface="Cambria"/>
              </a:rPr>
              <a:t>: CNN-GRU on Fold 3 reaches 0.6062 macro-F1 and 60.37% accuracy. Fold 2 is the hardest holdout for all three architectures.</a:t>
            </a:r>
            <a:endParaRPr lang="en-IN" sz="18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Results: Holdout Performance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609600" y="1500000"/>
          <a:ext cx="10972800" cy="2450352"/>
        </p:xfrm>
        <a:graphic>
          <a:graphicData uri="http://schemas.openxmlformats.org/drawingml/2006/table">
            <a:tbl>
              <a:tblPr firstRow="1" band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Model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Parameters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Checkpoint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CPU latency (mean)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CPU throughput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GPU latency (RTX 3050)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Edge suitability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HybridCNNGRU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18,131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0.069 MB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15.30 ms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65.3 FPS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4.56 ms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Strict edge (&lt;20 ms)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BiGRUAttention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37,971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0.145 MB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42.04 ms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23.8 FPS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2.91 ms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Soft real-time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TCNClassifier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96,499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0.368 MB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51.43 ms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19.4 FPS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12.36 ms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GPU recommended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Full 9-model ensemble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610,404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2.35 MB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511.65 ms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2.0 FPS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80.73 ms (12.4 FPS)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GPU real-time</a:t>
                      </a:r>
                      <a:endParaRPr lang="en-IN" sz="1500"/>
                    </a:p>
                  </a:txBody>
                  <a:tcPr marL="64008" marR="64008" marT="36576" marB="36576" anchor="ctr">
                    <a:lnL w="9525">
                      <a:solidFill>
                        <a:srgbClr val="D4C4C4"/>
                      </a:solidFill>
                    </a:lnL>
                    <a:lnR w="9525">
                      <a:solidFill>
                        <a:srgbClr val="D4C4C4"/>
                      </a:solidFill>
                    </a:lnR>
                    <a:lnT w="9525">
                      <a:solidFill>
                        <a:srgbClr val="D4C4C4"/>
                      </a:solidFill>
                    </a:lnT>
                    <a:lnB w="9525">
                      <a:solidFill>
                        <a:srgbClr val="D4C4C4"/>
                      </a:solidFill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4000000"/>
            <a:ext cx="109728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IN" sz="1900" b="1">
                <a:latin typeface="Cambria"/>
                <a:ea typeface="Cambria"/>
                <a:cs typeface="Cambria"/>
                <a:sym typeface="Cambria"/>
              </a:rPr>
              <a:t>Strict Edge Execution</a:t>
            </a: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: HybridCNNGRU needs 15.30 ms on a CPU (65.3 FPS), meeting the automotive real-time deadline without a GPU.</a:t>
            </a:r>
            <a:endParaRPr lang="en-IN" sz="1900"/>
          </a:p>
          <a:p>
            <a:pPr marL="34290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IN" sz="1900" b="1">
                <a:latin typeface="Cambria"/>
                <a:ea typeface="Cambria"/>
                <a:cs typeface="Cambria"/>
                <a:sym typeface="Cambria"/>
              </a:rPr>
              <a:t>Compact Footprint</a:t>
            </a: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: The whole ensemble is 2.35 MB on disk, so the weights are small enough for any edge device.</a:t>
            </a:r>
            <a:endParaRPr lang="en-IN" sz="1900"/>
          </a:p>
          <a:p>
            <a:pPr marL="34290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IN" sz="1900" b="1">
                <a:latin typeface="Cambria"/>
                <a:ea typeface="Cambria"/>
                <a:cs typeface="Cambria"/>
                <a:sym typeface="Cambria"/>
              </a:rPr>
              <a:t>Deployment Trade-off</a:t>
            </a:r>
            <a:r>
              <a:rPr lang="en-IN" sz="1900">
                <a:latin typeface="Cambria"/>
                <a:ea typeface="Cambria"/>
                <a:cs typeface="Cambria"/>
                <a:sym typeface="Cambria"/>
              </a:rPr>
              <a:t>: The full ensemble runs in real time only on a GPU (80.73 ms); on a CPU it manages 2.0 FPS.</a:t>
            </a:r>
            <a:endParaRPr lang="en-IN" sz="19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Results: Latency and Edge Viability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Integration Tests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The suite covers normalizers, ensemble fusion and the alert manager; 57 of 57 tests pass in 2.75 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15-Second Calibration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The live webcam routine stores the user’s baseline (EAR</a:t>
            </a:r>
            <a:r>
              <a:rPr lang="en-IN" sz="2400" baseline="-25000">
                <a:latin typeface="Cambria"/>
                <a:ea typeface="Cambria"/>
                <a:cs typeface="Cambria"/>
                <a:sym typeface="Cambria"/>
              </a:rPr>
              <a:t>base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Pitch</a:t>
            </a:r>
            <a:r>
              <a:rPr lang="en-IN" sz="2400" baseline="-25000">
                <a:latin typeface="Cambria"/>
                <a:ea typeface="Cambria"/>
                <a:cs typeface="Cambria"/>
                <a:sym typeface="Cambria"/>
              </a:rPr>
              <a:t>base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) in ~/.alert/calibration.json.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Awake Driver Test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With eyes open naturally, P</a:t>
            </a:r>
            <a:r>
              <a:rPr lang="en-IN" sz="2400" baseline="-25000">
                <a:latin typeface="Cambria"/>
                <a:ea typeface="Cambria"/>
                <a:cs typeface="Cambria"/>
                <a:sym typeface="Cambria"/>
              </a:rPr>
              <a:t>ema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(Alert) stays near 0.85–0.96 and the HUD remains green (NORMAL) with no false warnings.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Micro-Sleep Test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Eyelid closure held past 1.5 s moves the system to CRITICAL (Drowsy) and sounds the siren within 22 frames.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HUD Telemetry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Status pill, ensemble badge, ΔEAR and ΔPitch indicators, probability bars and an attention heatmap.</a:t>
            </a:r>
            <a:endParaRPr lang="en-IN" sz="24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System Verification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Edge DMS Realized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An end-to-end, zero-cloud driver fatigue monitor, designed, trained and verified on edge-class hardware.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Anatomical Bias Removed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Personal baseline normalization (EAR / EAR</a:t>
            </a:r>
            <a:r>
              <a:rPr lang="en-IN" sz="2400" baseline="-25000">
                <a:latin typeface="Cambria"/>
                <a:ea typeface="Cambria"/>
                <a:cs typeface="Cambria"/>
                <a:sym typeface="Cambria"/>
              </a:rPr>
              <a:t>base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) removes the 0.18–0.45 cross-subject spread and lifted holdout F1 by 24.8%.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Kinematic Features Matter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ΔEAR and ΔPitch separate voluntary snap blinks from involuntary micro-sleep closure.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Ordinal Formulation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Penalizing opposite-extreme errors 4× harder prevents mode-seeking collapse and steadies boundary predictions.</a:t>
            </a:r>
            <a:endParaRPr lang="en-IN" sz="2400"/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Holdout Result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Best model reaches 0.6062 macro-F1 and 60.37% accuracy on unseen subjects; the 9-model mean is 0.5236.</a:t>
            </a:r>
            <a:endParaRPr lang="en-IN" sz="24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IN" sz="2500" b="1">
                <a:latin typeface="Cambria"/>
                <a:ea typeface="Cambria"/>
                <a:cs typeface="Cambria"/>
                <a:sym typeface="Cambria"/>
              </a:rPr>
              <a:t>Near-Infrared Illumination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Add 850 nm / 940 nm infrared camera streams for reliable night operation and polarized sunglasses.</a:t>
            </a:r>
            <a:endParaRPr lang="en-IN" sz="2500"/>
          </a:p>
          <a:p>
            <a:pPr marL="342900" lvl="0" indent="-3429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IN" sz="2500" b="1">
                <a:latin typeface="Cambria"/>
                <a:ea typeface="Cambria"/>
                <a:cs typeface="Cambria"/>
                <a:sym typeface="Cambria"/>
              </a:rPr>
              <a:t>Quantization and Acceleration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Export to ONNX Runtime INT8, OpenVINO and TensorRT for Raspberry Pi 5, NXP BlueBox and Jetson Orin Nano.</a:t>
            </a:r>
            <a:endParaRPr lang="en-IN" sz="2500"/>
          </a:p>
          <a:p>
            <a:pPr marL="342900" lvl="0" indent="-3429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IN" sz="2500" b="1">
                <a:latin typeface="Cambria"/>
                <a:ea typeface="Cambria"/>
                <a:cs typeface="Cambria"/>
                <a:sym typeface="Cambria"/>
              </a:rPr>
              <a:t>CAN-Bus Fusion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Combine visual alertness with steering-angle entropy, pedal pressure variance and lane-departure signals.</a:t>
            </a:r>
            <a:endParaRPr lang="en-IN" sz="2500"/>
          </a:p>
          <a:p>
            <a:pPr marL="342900" lvl="0" indent="-3429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IN" sz="2500" b="1">
                <a:latin typeface="Cambria"/>
                <a:ea typeface="Cambria"/>
                <a:cs typeface="Cambria"/>
                <a:sym typeface="Cambria"/>
              </a:rPr>
              <a:t>Driver Identification</a:t>
            </a:r>
            <a:r>
              <a:rPr lang="en-IN" sz="2500">
                <a:latin typeface="Cambria"/>
                <a:ea typeface="Cambria"/>
                <a:cs typeface="Cambria"/>
                <a:sym typeface="Cambria"/>
              </a:rPr>
              <a:t>: Use on-device face recognition to load each driver’s calibration profile automatically, with no cloud.</a:t>
            </a:r>
            <a:endParaRPr lang="en-IN" sz="25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Future Enhancements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[1] W. Liu, J. Qian, Z. Yao, X. Jiao, and J. Pan, “Real-time driver fatigue detection based on CNN-LSTM and facial landmark points,” IET Intelligent Transport Systems, vol. 16, no. 7, pp. 936–948, 2022.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[2] A. Sengupta, V. Patel, and R. Kumar, “Deep Learning Approaches for Driver Drowsiness and Distraction Detection: A Systematic Review,” Sensors, vol. 23, no. 4, art. 1952, 2023.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[3] M. A. Farooq, S. Corcoran, and P. Corcoran, “VigilEye: Lightweight Facial Landmark-Based Driver Drowsiness Detection Optimized for Real-Time Embedded CPU Inference,” arXiv:2403.08812, 2024.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[4] R. Ghoddoosian, M. Bartlett, and V. Athitsos, “A Realistic Dataset and Baseline Temporal Model for Driver Drowsiness Detection,” IEEE Access, vol. 9, pp. 110595–110607, 2021.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[5] H. K. Choi and J. H. Park, “Real-Time Driver Fatigue Monitoring System Using Google MediaPipe Face Mesh and Temporal PERCLOS Analysis,” Applied Sciences, vol. 13, no. 11, art. 6672, 2023.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[6] Z. Al-Haija, M. Smadi, and M. Al-Zoubi, “Real-Time Driver Monitoring System Using Lightweight YOLOv8-Nano and Edge Computing Architectures,” Eng. Appl. Artif. Intell., vol. 126, art. 106981, 2023.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[7] Y. Zhang, H. Huang, and Y. Wang, “Personalized Driver Fatigue Assessment via Adaptive Eye Aspect Ratio Thresholding and Blink Dynamics,” Pattern Recognition Letters, vol. 158, pp. 124–131, 2022.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[8] K. S. Babu, S. R. Chalamala, and K. S. Rao, “Driver Drowsiness Classification Using Facial Keypoint Vectors and Bidirectional LSTM Networks,” IEEE Trans. Intell. Transp. Syst., vol. 22, no. 10, pp. 6423–6434, 2021.</a:t>
            </a:r>
            <a:endParaRPr lang="en-IN" sz="16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 dirty="0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450000"/>
            <a:ext cx="109728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[9] D. Kumar, R. Sharma, and A. Gupta, “SAFE-DRIVE-AI: Temporal Self-Attention BiGRU for Micro-Sleep and Low-Vigilance Detection,” Expert Systems with Applications, vol. 238, art. 122115, 2024.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[10] J. B. Martinez, L. Gomez, and F. Rossi, “Multimodal Fusion of Head Pose Pitch and Facial Geometric Indicators for Non-Intrusive Driver Drowsiness Assessment,” Accident Analysis &amp; Prevention, vol. 182, art. 106945, 2023.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[11] T. Soukupova and J. Cech, “Real-time eye blink detection using facial landmarks,” 21st Computer Vision Winter Workshop (CVWW), Rimske Toplice, Slovenia, 2016, pp. 1–8.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[12] S. Bai, J. Z. Kolter, and V. Koltun, “An Empirical Evaluation of Generic Convolutional and Recurrent Networks for Sequence Modeling,” arXiv:1803.01271, 2018.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[13] T. Lin, P. Goyal, R. Girshick, K. He, and P. Dollar, “Focal Loss for Dense Object Detection,” IEEE Trans. Pattern Anal. Mach. Intell., vol. 42, no. 2, pp. 318–327, 2020.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[14] C. Lugaresi et al., “MediaPipe: A Framework for Building Perception Pipelines,” arXiv:1906.08172, 2019.</a:t>
            </a:r>
            <a:endParaRPr lang="en-IN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latin typeface="Cambria"/>
                <a:ea typeface="Cambria"/>
                <a:cs typeface="Cambria"/>
                <a:sym typeface="Cambria"/>
              </a:rPr>
              <a:t>[15] European Commission, “Regulation (EU) 2019/2144 of the European Parliament and of the Council on type-approval requirements for motor vehicles (General Safety Regulation),” Official Journal of the European Union, L 325, pp. 1–40, 2019.</a:t>
            </a:r>
            <a:endParaRPr lang="en-IN" sz="160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3550</Words>
  <Application>Microsoft Office PowerPoint</Application>
  <PresentationFormat>Widescreen</PresentationFormat>
  <Paragraphs>393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Times New Roman</vt:lpstr>
      <vt:lpstr>Office Theme</vt:lpstr>
      <vt:lpstr>PowerPoint Presentation</vt:lpstr>
      <vt:lpstr>Index</vt:lpstr>
      <vt:lpstr>Introduction</vt:lpstr>
      <vt:lpstr>Background and Motivation</vt:lpstr>
      <vt:lpstr>Relevance and Industrial Importance</vt:lpstr>
      <vt:lpstr>Literature Review: Part 1</vt:lpstr>
      <vt:lpstr>Literature Review: Part 2</vt:lpstr>
      <vt:lpstr>Research Gap</vt:lpstr>
      <vt:lpstr>Objectives and Milestones Achieved</vt:lpstr>
      <vt:lpstr>Dataset and Preprocessing</vt:lpstr>
      <vt:lpstr>Required Tools and Technology</vt:lpstr>
      <vt:lpstr>Methodology: Kinematic Pipeline</vt:lpstr>
      <vt:lpstr>Methodology: Calibration and Loss</vt:lpstr>
      <vt:lpstr>Architecture: Edge Model Triad</vt:lpstr>
      <vt:lpstr>Architecture: Ensemble and Alert Logic</vt:lpstr>
      <vt:lpstr>Results: Training Challenges</vt:lpstr>
      <vt:lpstr>Results: Holdout Performance</vt:lpstr>
      <vt:lpstr>Results: Latency and Edge Viability</vt:lpstr>
      <vt:lpstr>System Verification</vt:lpstr>
      <vt:lpstr>Conclusion</vt:lpstr>
      <vt:lpstr>Future Enhancements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</dc:creator>
  <cp:lastModifiedBy>kavya kothari</cp:lastModifiedBy>
  <cp:revision>3</cp:revision>
  <dcterms:modified xsi:type="dcterms:W3CDTF">2026-10-24T02:41:37Z</dcterms:modified>
</cp:coreProperties>
</file>