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78" r:id="rId8"/>
    <p:sldId id="269" r:id="rId9"/>
    <p:sldId id="262" r:id="rId10"/>
    <p:sldId id="279" r:id="rId11"/>
    <p:sldId id="280" r:id="rId12"/>
    <p:sldId id="281" r:id="rId13"/>
    <p:sldId id="282" r:id="rId14"/>
    <p:sldId id="283" r:id="rId15"/>
    <p:sldId id="284" r:id="rId16"/>
    <p:sldId id="271" r:id="rId17"/>
    <p:sldId id="272" r:id="rId18"/>
    <p:sldId id="273" r:id="rId19"/>
    <p:sldId id="268" r:id="rId20"/>
    <p:sldId id="285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7EDC67-28D4-409D-A043-197229C30CE6}">
  <a:tblStyle styleId="{407EDC67-28D4-409D-A043-197229C30C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6" d="100"/>
          <a:sy n="46" d="100"/>
        </p:scale>
        <p:origin x="43" y="11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5" name="Google Shape;11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3" name="Google Shape;12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1" name="Google Shape;13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7f9a4c8fa777841d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4" name="Google Shape;144;h7f9a4c8fa777841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6de3e5e92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f6de3e5e92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7f9a4c8fa777841d_0_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0" name="Google Shape;180;h7f9a4c8fa777841d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h7f9a4c8fa777841d_0_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9" name="Google Shape;189;h7f9a4c8fa777841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h7f9a4c8fa777841d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8" name="Google Shape;198;h7f9a4c8fa777841d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1" name="Google Shape;21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226037" y="0"/>
            <a:ext cx="1965963" cy="5689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8" name="Google Shape;28;p3" title="SOU_LOGO_new-removebg (1) (9)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815721" y="0"/>
            <a:ext cx="2376274" cy="51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91217" y="0"/>
            <a:ext cx="2066929" cy="5982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52" name="Google Shape;52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22907" y="1"/>
            <a:ext cx="2137230" cy="6185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69" name="Google Shape;69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20764" y="0"/>
            <a:ext cx="2139373" cy="619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1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3">
            <a:alphaModFix/>
          </a:blip>
          <a:srcRect r="2610"/>
          <a:stretch/>
        </p:blipFill>
        <p:spPr>
          <a:xfrm>
            <a:off x="-6199" y="-1"/>
            <a:ext cx="12192001" cy="573932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/>
          <p:nvPr/>
        </p:nvSpPr>
        <p:spPr>
          <a:xfrm>
            <a:off x="-18600" y="3875476"/>
            <a:ext cx="12204300" cy="2982600"/>
          </a:xfrm>
          <a:prstGeom prst="rect">
            <a:avLst/>
          </a:prstGeom>
          <a:solidFill>
            <a:srgbClr val="95373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imes New Roman"/>
              <a:buNone/>
            </a:pPr>
            <a:endParaRPr sz="3600" b="1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5" name="Google Shape;95;p13" title="SOU_LOGO_new-removebg (1) (9)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898992" y="0"/>
            <a:ext cx="3292999" cy="712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6" name="Google Shape;96;p13"/>
          <p:cNvGraphicFramePr/>
          <p:nvPr/>
        </p:nvGraphicFramePr>
        <p:xfrm>
          <a:off x="1041575" y="4066800"/>
          <a:ext cx="10019325" cy="2666850"/>
        </p:xfrm>
        <a:graphic>
          <a:graphicData uri="http://schemas.openxmlformats.org/drawingml/2006/table">
            <a:tbl>
              <a:tblPr>
                <a:noFill/>
                <a:tableStyleId>{407EDC67-28D4-409D-A043-197229C30CE6}</a:tableStyleId>
              </a:tblPr>
              <a:tblGrid>
                <a:gridCol w="4070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Project ID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CE_AIML_31</a:t>
                      </a:r>
                      <a:endParaRPr sz="2000"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Enrollment No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2301030600043, 2301030600045, 2301030600049</a:t>
                      </a:r>
                      <a:endParaRPr sz="1800" b="1" u="none" strike="noStrike" cap="none">
                        <a:solidFill>
                          <a:srgbClr val="FFFFFF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Name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Prem Deshani, Kavya Kothari, Mehulsinh Rathod</a:t>
                      </a:r>
                      <a:endParaRPr sz="2000" b="1" u="none" strike="noStrike" cap="none">
                        <a:solidFill>
                          <a:srgbClr val="FFFFFF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Branch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BTech. CE-AIML</a:t>
                      </a:r>
                      <a:endParaRPr sz="2000"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Guide Name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Ms Vishwa Patel</a:t>
                      </a:r>
                      <a:endParaRPr sz="2000" b="1" u="none" strike="noStrike" cap="none">
                        <a:solidFill>
                          <a:srgbClr val="FFFFFF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7" name="Google Shape;97;p13"/>
          <p:cNvSpPr txBox="1"/>
          <p:nvPr/>
        </p:nvSpPr>
        <p:spPr>
          <a:xfrm>
            <a:off x="805796" y="822153"/>
            <a:ext cx="105804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IN" sz="5400" b="1" i="0" u="none" strike="noStrike" cap="none" dirty="0">
                <a:solidFill>
                  <a:srgbClr val="6324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Minor Project</a:t>
            </a:r>
            <a:endParaRPr sz="5400" b="1" i="0" u="none" strike="noStrike" cap="none" dirty="0">
              <a:solidFill>
                <a:srgbClr val="63242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5400" b="1" i="0" u="none" strike="noStrike" cap="none" dirty="0">
                <a:solidFill>
                  <a:srgbClr val="6324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1010063491</a:t>
            </a:r>
            <a:endParaRPr sz="5400" b="1" i="0" u="none" strike="noStrike" cap="none" dirty="0">
              <a:solidFill>
                <a:srgbClr val="63242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IN" sz="5400" b="1" dirty="0">
                <a:solidFill>
                  <a:srgbClr val="6324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A.L.E.R.T.</a:t>
            </a:r>
            <a:endParaRPr sz="5400" b="1" i="0" u="none" strike="noStrike" cap="none" dirty="0">
              <a:solidFill>
                <a:srgbClr val="63242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>
            <a:spLocks noGrp="1"/>
          </p:cNvSpPr>
          <p:nvPr>
            <p:ph type="title"/>
          </p:nvPr>
        </p:nvSpPr>
        <p:spPr>
          <a:xfrm>
            <a:off x="609600" y="227014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Index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3" name="Google Shape;103;p14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Introduction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Background and Motivation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Relevance and Importance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Literature review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Research Gap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Objectives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Required Dataset, Tools and Technology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Methodology 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Result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Conclusion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Future Work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>
              <a:spcBef>
                <a:spcPts val="640"/>
              </a:spcBef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References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I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5"/>
          <p:cNvSpPr txBox="1">
            <a:spLocks noGrp="1"/>
          </p:cNvSpPr>
          <p:nvPr>
            <p:ph type="body" idx="1"/>
          </p:nvPr>
        </p:nvSpPr>
        <p:spPr>
          <a:xfrm>
            <a:off x="609600" y="1574526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Global Road Safety Crisis: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Driver fatigue and micro-sleeps contribute to over 20% of fatal automotive crashes worldwide [2], [4].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Computer Vision DMS: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Non-intrusive Driver Monitoring Systems (DMS) track facial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behavioral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indicators in real time without intrusive wearables.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ALERT Core Stack: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Fully offline edge framework extracting 468 3D facial landmarks via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MediaPipe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Tasks to compute 8 geometric and temporal features [3], [5].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Temporal Deep Learning: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Employs a lightweight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BiGRU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network with Temporal Self-Attention [8], [9] to classify fatigue across continuous time windows.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Commodity Hardware Focus: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Runs at 30+ FPS on consumer CPUs with &lt;300 MB RAM and zero cloud or GPU dependency.</a:t>
            </a:r>
          </a:p>
        </p:txBody>
      </p:sp>
      <p:sp>
        <p:nvSpPr>
          <p:cNvPr id="110" name="Google Shape;110;p15"/>
          <p:cNvSpPr txBox="1">
            <a:spLocks noGrp="1"/>
          </p:cNvSpPr>
          <p:nvPr>
            <p:ph type="title"/>
          </p:nvPr>
        </p:nvSpPr>
        <p:spPr>
          <a:xfrm>
            <a:off x="609600" y="281656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Introduction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1" name="Google Shape;111;p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3</a:t>
            </a:fld>
            <a:endParaRPr/>
          </a:p>
        </p:txBody>
      </p:sp>
      <p:sp>
        <p:nvSpPr>
          <p:cNvPr id="2" name="Google Shape;112;p15">
            <a:extLst>
              <a:ext uri="{FF2B5EF4-FFF2-40B4-BE49-F238E27FC236}">
                <a16:creationId xmlns:a16="http://schemas.microsoft.com/office/drawing/2014/main" id="{6CFD4987-992C-76C8-2F33-8BC84959A514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 txBox="1">
            <a:spLocks noGrp="1"/>
          </p:cNvSpPr>
          <p:nvPr>
            <p:ph type="title"/>
          </p:nvPr>
        </p:nvSpPr>
        <p:spPr>
          <a:xfrm>
            <a:off x="609600" y="22715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Background and Motivation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609600" y="1645090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Fatality Risks of Micro-Sleeps: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A 2-to-3 second micro-sleep at highway speed causes a vehicle to travel over 70 meters uncontrolled [1], [4].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Flaws of Cloud-Based DMS: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Cloud streaming introduces 150–500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ms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latency jitter, high bandwidth costs, and complete failure in tunnels and rural dead zones.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Privacy Liabilities: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Transmitting live in-cabin facial video streams violates GDPR, CCPA, and biometric data privacy laws.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Hardware Cost Barrier: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Existing deep learning DMS require power-hungry NVIDIA GPUs or specialized automotive silicon [6].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Motivation: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Build a zero-cloud, 100% private, sub-50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ms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fatigue detection system deployable on standard consumer laptop and edge CPUs [3].</a:t>
            </a:r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4</a:t>
            </a:fld>
            <a:endParaRPr/>
          </a:p>
        </p:txBody>
      </p:sp>
      <p:sp>
        <p:nvSpPr>
          <p:cNvPr id="4" name="Google Shape;112;p15">
            <a:extLst>
              <a:ext uri="{FF2B5EF4-FFF2-40B4-BE49-F238E27FC236}">
                <a16:creationId xmlns:a16="http://schemas.microsoft.com/office/drawing/2014/main" id="{C25AB177-51AE-8DFF-261B-CBBD2BFEB9B9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>
            <a:spLocks noGrp="1"/>
          </p:cNvSpPr>
          <p:nvPr>
            <p:ph type="title"/>
          </p:nvPr>
        </p:nvSpPr>
        <p:spPr>
          <a:xfrm>
            <a:off x="609700" y="242969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Relevance and Importance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6" name="Google Shape;126;p17"/>
          <p:cNvSpPr txBox="1">
            <a:spLocks noGrp="1"/>
          </p:cNvSpPr>
          <p:nvPr>
            <p:ph type="body" idx="1"/>
          </p:nvPr>
        </p:nvSpPr>
        <p:spPr>
          <a:xfrm>
            <a:off x="343592" y="1322360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Personalized Driver Calibration: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Solves eye-shape bias through an initial 10-second open-eye baseline calculation, eliminating false alarms [7].</a:t>
            </a:r>
          </a:p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Multi-Modal Feature Fusion: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Combines Eye Aspect Ratio (EAR), PERCLOS, Mouth Aspect Ratio (MAR), and </a:t>
            </a:r>
            <a:r>
              <a:rPr lang="en-US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solvePnP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head pitch/yaw into a unified 8D vector [5], [10].</a:t>
            </a:r>
          </a:p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Automotive Fleet Impact: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Readily deployable in long-haul commercial trucking, school buses, and ride-hailing fleets without vehicle modification.</a:t>
            </a:r>
          </a:p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Zero Additional Sensor Cost: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Functions with standard off-the-shelf USB webcams and integrated laptop cameras.</a:t>
            </a:r>
          </a:p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Deterministic Edge Safety: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Sub-35 </a:t>
            </a:r>
            <a:r>
              <a:rPr lang="en-US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ms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end-to-end latency ensures instant audible and visual warning triggers before accidents happen.</a:t>
            </a:r>
            <a:b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endParaRPr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7" name="Google Shape;127;p1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5</a:t>
            </a:fld>
            <a:endParaRPr/>
          </a:p>
        </p:txBody>
      </p:sp>
      <p:sp>
        <p:nvSpPr>
          <p:cNvPr id="3" name="Google Shape;112;p15">
            <a:extLst>
              <a:ext uri="{FF2B5EF4-FFF2-40B4-BE49-F238E27FC236}">
                <a16:creationId xmlns:a16="http://schemas.microsoft.com/office/drawing/2014/main" id="{8D52728A-7F0F-974B-E744-7FBE87D89651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Literature Review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5" name="Google Shape;135;p1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6</a:t>
            </a:fld>
            <a:endParaRPr/>
          </a:p>
        </p:txBody>
      </p:sp>
      <p:sp>
        <p:nvSpPr>
          <p:cNvPr id="11" name="Google Shape;112;p15">
            <a:extLst>
              <a:ext uri="{FF2B5EF4-FFF2-40B4-BE49-F238E27FC236}">
                <a16:creationId xmlns:a16="http://schemas.microsoft.com/office/drawing/2014/main" id="{0E828682-989D-41DB-8C59-9E94DEF9E0E7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8E981B-C525-0F14-CEDE-3D8474A0B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479826"/>
              </p:ext>
            </p:extLst>
          </p:nvPr>
        </p:nvGraphicFramePr>
        <p:xfrm>
          <a:off x="609599" y="1417638"/>
          <a:ext cx="10972800" cy="4815305"/>
        </p:xfrm>
        <a:graphic>
          <a:graphicData uri="http://schemas.openxmlformats.org/drawingml/2006/table">
            <a:tbl>
              <a:tblPr/>
              <a:tblGrid>
                <a:gridCol w="1019696">
                  <a:extLst>
                    <a:ext uri="{9D8B030D-6E8A-4147-A177-3AD203B41FA5}">
                      <a16:colId xmlns:a16="http://schemas.microsoft.com/office/drawing/2014/main" val="3569429479"/>
                    </a:ext>
                  </a:extLst>
                </a:gridCol>
                <a:gridCol w="2094807">
                  <a:extLst>
                    <a:ext uri="{9D8B030D-6E8A-4147-A177-3AD203B41FA5}">
                      <a16:colId xmlns:a16="http://schemas.microsoft.com/office/drawing/2014/main" val="2055025896"/>
                    </a:ext>
                  </a:extLst>
                </a:gridCol>
                <a:gridCol w="1895302">
                  <a:extLst>
                    <a:ext uri="{9D8B030D-6E8A-4147-A177-3AD203B41FA5}">
                      <a16:colId xmlns:a16="http://schemas.microsoft.com/office/drawing/2014/main" val="1453130612"/>
                    </a:ext>
                  </a:extLst>
                </a:gridCol>
                <a:gridCol w="1928552">
                  <a:extLst>
                    <a:ext uri="{9D8B030D-6E8A-4147-A177-3AD203B41FA5}">
                      <a16:colId xmlns:a16="http://schemas.microsoft.com/office/drawing/2014/main" val="2754729766"/>
                    </a:ext>
                  </a:extLst>
                </a:gridCol>
                <a:gridCol w="1396539">
                  <a:extLst>
                    <a:ext uri="{9D8B030D-6E8A-4147-A177-3AD203B41FA5}">
                      <a16:colId xmlns:a16="http://schemas.microsoft.com/office/drawing/2014/main" val="3230504315"/>
                    </a:ext>
                  </a:extLst>
                </a:gridCol>
                <a:gridCol w="2637904">
                  <a:extLst>
                    <a:ext uri="{9D8B030D-6E8A-4147-A177-3AD203B41FA5}">
                      <a16:colId xmlns:a16="http://schemas.microsoft.com/office/drawing/2014/main" val="4016270691"/>
                    </a:ext>
                  </a:extLst>
                </a:gridCol>
              </a:tblGrid>
              <a:tr h="2354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Sr.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Ref. (Citation)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Algorithm Used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Dataset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Result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Findings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789908"/>
                  </a:ext>
                </a:extLst>
              </a:tr>
              <a:tr h="8946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</a:t>
                      </a:r>
                      <a:endParaRPr lang="en-IN" sz="11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Liu et al. (2022) [1]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CNN-LSTM Hybrid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Private Driving Video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94.2% Acc.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Validates sequential temporal modeling over static single-frame fatigue detection.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541739"/>
                  </a:ext>
                </a:extLst>
              </a:tr>
              <a:tr h="8946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2</a:t>
                      </a:r>
                      <a:endParaRPr lang="en-IN" sz="11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Sengupta et al. (2023) [2]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Systematic Review (DL)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Survey (NTHU, UTA-RLDD)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Benchmark Study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Demonstrates hybrid geometric-temporal models balance accuracy and compute.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313507"/>
                  </a:ext>
                </a:extLst>
              </a:tr>
              <a:tr h="8946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3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Farooq et al. (2024) [3]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VigilEye (Landmark-CPU)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Custom Webcam Stream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&lt;45 </a:t>
                      </a:r>
                      <a:r>
                        <a:rPr lang="en-IN" sz="1100" dirty="0" err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ms</a:t>
                      </a: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Latency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Proves facial landmark extraction on CPU achieves real-time embedded DMS viability.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0636934"/>
                  </a:ext>
                </a:extLst>
              </a:tr>
              <a:tr h="8946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4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Ghoddoosian et al. (2021) [4]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UTA-RLDD Baseline (HMM)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UTA-RLDD (60 subjects)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65.2% Macro-F1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Established the first naturalistic 3-class drowsiness benchmark for real-life driving.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008342"/>
                  </a:ext>
                </a:extLst>
              </a:tr>
              <a:tr h="8946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5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Choi &amp; Park (2023) [5]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MediaPipe + PERCLOS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Simulated Video Stream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93.8% Acc.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Validates </a:t>
                      </a:r>
                      <a:r>
                        <a:rPr lang="en-US" sz="1100" dirty="0" err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MediaPipe</a:t>
                      </a:r>
                      <a:r>
                        <a:rPr lang="en-US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Tasks Face Mesh as 3x faster than </a:t>
                      </a:r>
                      <a:r>
                        <a:rPr lang="en-US" sz="1100" dirty="0" err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dlib</a:t>
                      </a:r>
                      <a:r>
                        <a:rPr lang="en-US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on commodity CPUs.</a:t>
                      </a:r>
                    </a:p>
                  </a:txBody>
                  <a:tcPr marL="73547" marR="73547" marT="33945" marB="33945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45205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34;p18">
            <a:extLst>
              <a:ext uri="{FF2B5EF4-FFF2-40B4-BE49-F238E27FC236}">
                <a16:creationId xmlns:a16="http://schemas.microsoft.com/office/drawing/2014/main" id="{30868247-63E8-4BF7-4C64-0CB5DD1430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Literature Review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" name="Google Shape;135;p18">
            <a:extLst>
              <a:ext uri="{FF2B5EF4-FFF2-40B4-BE49-F238E27FC236}">
                <a16:creationId xmlns:a16="http://schemas.microsoft.com/office/drawing/2014/main" id="{D542AA5C-20A4-FB59-7BE1-7A78CEF378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7</a:t>
            </a:fld>
            <a:endParaRPr/>
          </a:p>
        </p:txBody>
      </p:sp>
      <p:sp>
        <p:nvSpPr>
          <p:cNvPr id="7" name="Google Shape;112;p15">
            <a:extLst>
              <a:ext uri="{FF2B5EF4-FFF2-40B4-BE49-F238E27FC236}">
                <a16:creationId xmlns:a16="http://schemas.microsoft.com/office/drawing/2014/main" id="{90F9C6D8-3825-2CE7-4992-D12BA47708D2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E86FE0A-83C0-ADA2-7DD9-504D4EC939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604569"/>
              </p:ext>
            </p:extLst>
          </p:nvPr>
        </p:nvGraphicFramePr>
        <p:xfrm>
          <a:off x="609600" y="1380269"/>
          <a:ext cx="10972800" cy="4820974"/>
        </p:xfrm>
        <a:graphic>
          <a:graphicData uri="http://schemas.openxmlformats.org/drawingml/2006/table">
            <a:tbl>
              <a:tblPr/>
              <a:tblGrid>
                <a:gridCol w="903316">
                  <a:extLst>
                    <a:ext uri="{9D8B030D-6E8A-4147-A177-3AD203B41FA5}">
                      <a16:colId xmlns:a16="http://schemas.microsoft.com/office/drawing/2014/main" val="3244791551"/>
                    </a:ext>
                  </a:extLst>
                </a:gridCol>
                <a:gridCol w="1845426">
                  <a:extLst>
                    <a:ext uri="{9D8B030D-6E8A-4147-A177-3AD203B41FA5}">
                      <a16:colId xmlns:a16="http://schemas.microsoft.com/office/drawing/2014/main" val="2465980815"/>
                    </a:ext>
                  </a:extLst>
                </a:gridCol>
                <a:gridCol w="2028305">
                  <a:extLst>
                    <a:ext uri="{9D8B030D-6E8A-4147-A177-3AD203B41FA5}">
                      <a16:colId xmlns:a16="http://schemas.microsoft.com/office/drawing/2014/main" val="2283007331"/>
                    </a:ext>
                  </a:extLst>
                </a:gridCol>
                <a:gridCol w="1479666">
                  <a:extLst>
                    <a:ext uri="{9D8B030D-6E8A-4147-A177-3AD203B41FA5}">
                      <a16:colId xmlns:a16="http://schemas.microsoft.com/office/drawing/2014/main" val="2028138197"/>
                    </a:ext>
                  </a:extLst>
                </a:gridCol>
                <a:gridCol w="1413163">
                  <a:extLst>
                    <a:ext uri="{9D8B030D-6E8A-4147-A177-3AD203B41FA5}">
                      <a16:colId xmlns:a16="http://schemas.microsoft.com/office/drawing/2014/main" val="686276764"/>
                    </a:ext>
                  </a:extLst>
                </a:gridCol>
                <a:gridCol w="3302924">
                  <a:extLst>
                    <a:ext uri="{9D8B030D-6E8A-4147-A177-3AD203B41FA5}">
                      <a16:colId xmlns:a16="http://schemas.microsoft.com/office/drawing/2014/main" val="477782258"/>
                    </a:ext>
                  </a:extLst>
                </a:gridCol>
              </a:tblGrid>
              <a:tr h="2274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Sr.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Ref. (Citation)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Algorithm Used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Dataset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Result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Findings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192388"/>
                  </a:ext>
                </a:extLst>
              </a:tr>
              <a:tr h="8643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6</a:t>
                      </a:r>
                      <a:endParaRPr lang="en-IN" sz="11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Al-</a:t>
                      </a:r>
                      <a:r>
                        <a:rPr lang="en-IN" sz="1100" dirty="0" err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Haija</a:t>
                      </a: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et al. (2023) [6]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YOLOv8-Nano DMS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Real-time Webcam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91.5% </a:t>
                      </a:r>
                      <a:r>
                        <a:rPr lang="en-IN" sz="1100" dirty="0" err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mAP</a:t>
                      </a:r>
                      <a:endParaRPr lang="en-IN" sz="11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Demonstrates lightweight object detection, but lacks long-range temporal sequence memory.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9050383"/>
                  </a:ext>
                </a:extLst>
              </a:tr>
              <a:tr h="8643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7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Zhang et al. (2022) [7]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Adaptive EAR Threshold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NTHU-DDD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96.1% Acc.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Justifies driver-specific baseline calibration to prevent false alarms from narrow eyes.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7277662"/>
                  </a:ext>
                </a:extLst>
              </a:tr>
              <a:tr h="10235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8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Babu et al. (2021) [8]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Keypoints + BiLSTM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In-house Video Corpus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95.4% Acc.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Demonstrates bidirectional recurrent units effectively capture onset of blink patterns.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6067451"/>
                  </a:ext>
                </a:extLst>
              </a:tr>
              <a:tr h="8643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Kumar et al. (2024) [9]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SAFE-DRIVE-AI (Attention)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Multi-modal DMS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97.2% Recall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Confirms temporal self-attention assigns high weights to critical micro-sleep frames.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722236"/>
                  </a:ext>
                </a:extLst>
              </a:tr>
              <a:tr h="8643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b="1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Martinez et al. (2023) [10]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Head Pose + Landmark Fusion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Driving Simulator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1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94.8% Acc.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Proves fusing head pitch with eye closure detects nodding and fatigue foreshortening.</a:t>
                      </a:r>
                    </a:p>
                  </a:txBody>
                  <a:tcPr marL="71060" marR="71060" marT="32797" marB="32797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378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3322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7f9a4c8fa777841d_0_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Research Gap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8" name="Google Shape;148;h7f9a4c8fa777841d_0_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8</a:t>
            </a:fld>
            <a:endParaRPr/>
          </a:p>
        </p:txBody>
      </p:sp>
      <p:sp>
        <p:nvSpPr>
          <p:cNvPr id="150" name="Google Shape;150;h7f9a4c8fa777841d_0_15"/>
          <p:cNvSpPr txBox="1">
            <a:spLocks noGrp="1"/>
          </p:cNvSpPr>
          <p:nvPr>
            <p:ph type="body" idx="1"/>
          </p:nvPr>
        </p:nvSpPr>
        <p:spPr>
          <a:xfrm>
            <a:off x="149629" y="1417638"/>
            <a:ext cx="11853949" cy="4794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Static vs. Adaptive Thresholds: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Most prior systems use hardcoded EAR thresholds (e.g., 0.25) [1], [5], failing across diverse ethnicities and eye anatomies.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Heavy Compute Requirements: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High-performing models rely on 3D-CNNs or YOLO backbones [6] that demand dedicated GPUs and exceed 30 W power budgets.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Ignorance of Temporal Attention: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Standard recurrent networks (LSTM/GRU) treat all timesteps equally [8], diluting subtle micro-sleep transitions.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Single-Feature Vulnerability: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Relying solely on eye closure fails during head nods, sunglasses occlusion, or excessive yawning [10].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Addressed by ALERT: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63.9k-parameter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BiGRU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with Attention [9], 10-second calibration [7], and 8D multi-signal landmark fusion [5], [10] on pure CPU [3].</a:t>
            </a:r>
          </a:p>
        </p:txBody>
      </p:sp>
      <p:sp>
        <p:nvSpPr>
          <p:cNvPr id="3" name="Google Shape;112;p15">
            <a:extLst>
              <a:ext uri="{FF2B5EF4-FFF2-40B4-BE49-F238E27FC236}">
                <a16:creationId xmlns:a16="http://schemas.microsoft.com/office/drawing/2014/main" id="{E5FCC3E1-0A6B-DD92-F127-6038D6E149D6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Objectives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2" name="Google Shape;142;p19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IN" sz="2400" b="1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High-Accuracy Edge Inference:</a:t>
            </a:r>
            <a:r>
              <a:rPr lang="en-IN" sz="2400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 Design a lightweight deep learning sequence model achieving &gt;90% macro-F1 on naturalistic fatigue benchmarks [4].</a:t>
            </a:r>
          </a:p>
          <a:p>
            <a:r>
              <a:rPr lang="en-IN" sz="2400" b="1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Real-Time CPU Execution:</a:t>
            </a:r>
            <a:r>
              <a:rPr lang="en-IN" sz="2400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 Maintain &gt;25 FPS throughput (&lt;40 </a:t>
            </a:r>
            <a:r>
              <a:rPr lang="en-IN" sz="2400" dirty="0" err="1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ms</a:t>
            </a:r>
            <a:r>
              <a:rPr lang="en-IN" sz="2400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/frame) on standard consumer x86 CPUs without GPU acceleration [3].</a:t>
            </a:r>
          </a:p>
          <a:p>
            <a:r>
              <a:rPr lang="en-IN" sz="2400" b="1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Adaptive Driver Calibration:</a:t>
            </a:r>
            <a:r>
              <a:rPr lang="en-IN" sz="2400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 Implement an automated 10-second baseline capture to customize EAR/MAR thresholds per driver anatomy [7].</a:t>
            </a:r>
          </a:p>
          <a:p>
            <a:r>
              <a:rPr lang="en-IN" sz="2400" b="1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Multi-Modal Signal Fusion:</a:t>
            </a:r>
            <a:r>
              <a:rPr lang="en-IN" sz="2400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 Fuse 8 temporal geometric signals (EAR, MAR, PERCLOS, Blink Rate, </a:t>
            </a:r>
            <a:r>
              <a:rPr lang="en-IN" sz="2400" dirty="0" err="1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solvePnP</a:t>
            </a:r>
            <a:r>
              <a:rPr lang="en-IN" sz="2400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 Head Pitch/Yaw) into continuous sliding windows [5], [10].</a:t>
            </a:r>
          </a:p>
          <a:p>
            <a:r>
              <a:rPr lang="en-IN" sz="2400" b="1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Tiered Safety State Machine:</a:t>
            </a:r>
            <a:r>
              <a:rPr lang="en-IN" sz="2400" dirty="0">
                <a:highlight>
                  <a:schemeClr val="lt1"/>
                </a:highlight>
                <a:latin typeface="Cambria" panose="02040503050406030204" pitchFamily="18" charset="0"/>
                <a:ea typeface="Cambria" panose="02040503050406030204" pitchFamily="18" charset="0"/>
              </a:rPr>
              <a:t> Deliver debounced 3-level alerts (Normal, Warning chime, Critical alarm) with live HUD visualization.</a:t>
            </a:r>
          </a:p>
        </p:txBody>
      </p:sp>
      <p:sp>
        <p:nvSpPr>
          <p:cNvPr id="143" name="Google Shape;143;p1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9</a:t>
            </a:fld>
            <a:endParaRPr/>
          </a:p>
        </p:txBody>
      </p:sp>
      <p:sp>
        <p:nvSpPr>
          <p:cNvPr id="3" name="Google Shape;112;p15">
            <a:extLst>
              <a:ext uri="{FF2B5EF4-FFF2-40B4-BE49-F238E27FC236}">
                <a16:creationId xmlns:a16="http://schemas.microsoft.com/office/drawing/2014/main" id="{F4A66ECC-0788-899F-56CC-D266E8FA50FC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50;p20">
            <a:extLst>
              <a:ext uri="{FF2B5EF4-FFF2-40B4-BE49-F238E27FC236}">
                <a16:creationId xmlns:a16="http://schemas.microsoft.com/office/drawing/2014/main" id="{FD8C45EF-C532-2581-69B7-4AF17A7FA6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Required Dataset, Tools and Technology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" name="Google Shape;151;p20">
            <a:extLst>
              <a:ext uri="{FF2B5EF4-FFF2-40B4-BE49-F238E27FC236}">
                <a16:creationId xmlns:a16="http://schemas.microsoft.com/office/drawing/2014/main" id="{3719145E-38C2-D599-AAB0-E77C12A173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10</a:t>
            </a:fld>
            <a:endParaRPr/>
          </a:p>
        </p:txBody>
      </p:sp>
      <p:sp>
        <p:nvSpPr>
          <p:cNvPr id="14" name="Google Shape;112;p15">
            <a:extLst>
              <a:ext uri="{FF2B5EF4-FFF2-40B4-BE49-F238E27FC236}">
                <a16:creationId xmlns:a16="http://schemas.microsoft.com/office/drawing/2014/main" id="{0C3F9282-88E7-9FE9-1067-F4B7297E4D55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B56128-CD59-4051-D8DB-722F09A6B9A4}"/>
              </a:ext>
            </a:extLst>
          </p:cNvPr>
          <p:cNvSpPr txBox="1"/>
          <p:nvPr/>
        </p:nvSpPr>
        <p:spPr>
          <a:xfrm>
            <a:off x="382384" y="1417638"/>
            <a:ext cx="11200015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Dataset:</a:t>
            </a:r>
            <a:r>
              <a:rPr lang="en-IN" sz="2400" b="0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UTA-RLDD (University of Texas at Arlington Real-Life Drowsiness Dataset) [4].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Subjects &amp; Diversity:</a:t>
            </a:r>
            <a:r>
              <a:rPr lang="en-IN" sz="2400" b="0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60 unique participants (48 utilized in 4-fold cross-validation), diverse ethnicities, genders, and facial structures.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Ground Truth Classes:</a:t>
            </a:r>
            <a:r>
              <a:rPr lang="en-IN" sz="2400" b="0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3 distinct stages: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Class 0 (Alert):</a:t>
            </a:r>
            <a:r>
              <a:rPr lang="en-IN" sz="2400" b="0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Completely vigilant driving state (~33%).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Class 1 (Low Vigilant):</a:t>
            </a:r>
            <a:r>
              <a:rPr lang="en-IN" sz="2400" b="0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Early onset fatigue, intermittent yawning, slower blinks (~33%).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Class 2 (Drowsy):</a:t>
            </a:r>
            <a:r>
              <a:rPr lang="en-IN" sz="2400" b="0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Severe micro-sleeps, prolonged eyelid closures, head nodding (~33%).</a:t>
            </a:r>
            <a:endParaRPr lang="en-IN" sz="2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6769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50;p20">
            <a:extLst>
              <a:ext uri="{FF2B5EF4-FFF2-40B4-BE49-F238E27FC236}">
                <a16:creationId xmlns:a16="http://schemas.microsoft.com/office/drawing/2014/main" id="{7E52297F-74EF-9130-5FF5-613959304A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Required Dataset, Tools and Technology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" name="Google Shape;151;p20">
            <a:extLst>
              <a:ext uri="{FF2B5EF4-FFF2-40B4-BE49-F238E27FC236}">
                <a16:creationId xmlns:a16="http://schemas.microsoft.com/office/drawing/2014/main" id="{5B2A3C87-E573-3B94-5B2D-DE290E9C191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11</a:t>
            </a:fld>
            <a:endParaRPr/>
          </a:p>
        </p:txBody>
      </p:sp>
      <p:sp>
        <p:nvSpPr>
          <p:cNvPr id="7" name="Google Shape;112;p15">
            <a:extLst>
              <a:ext uri="{FF2B5EF4-FFF2-40B4-BE49-F238E27FC236}">
                <a16:creationId xmlns:a16="http://schemas.microsoft.com/office/drawing/2014/main" id="{AC9E2567-4FC6-CEE8-F155-5D6D2CD8EBD3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10169-58BC-DD90-E5AD-B92DD00A0540}"/>
              </a:ext>
            </a:extLst>
          </p:cNvPr>
          <p:cNvSpPr txBox="1"/>
          <p:nvPr/>
        </p:nvSpPr>
        <p:spPr>
          <a:xfrm>
            <a:off x="495992" y="1411346"/>
            <a:ext cx="11200015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800" b="1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Realistic Conditions:</a:t>
            </a:r>
            <a:r>
              <a:rPr lang="en-IN" sz="2800" b="0" i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141 multi-minute video recordings capturing subtle natural drowsiness transitions under uncontrolled ambient lighting.</a:t>
            </a:r>
            <a:endParaRPr lang="en-IN" sz="28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8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Programming &amp; Core Frameworks: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Python 3.10+,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PyTorch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2.x (CPU wheel with Intel MKL / OpenMP optimizations).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 Landmark Detection: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Google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MediaPipe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Tasks API (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FaceLandmarker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with XNNPACK CPU delegate, 468 3D landmarks) [3], [5].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 Computer Vision &amp; Math: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OpenCV (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VideoCapture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, MJPG stream, cv2.solvePnP for 3D head pose), NumPy, SciPy</a:t>
            </a:r>
          </a:p>
        </p:txBody>
      </p:sp>
    </p:spTree>
    <p:extLst>
      <p:ext uri="{BB962C8B-B14F-4D97-AF65-F5344CB8AC3E}">
        <p14:creationId xmlns:p14="http://schemas.microsoft.com/office/powerpoint/2010/main" val="546288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50;p20">
            <a:extLst>
              <a:ext uri="{FF2B5EF4-FFF2-40B4-BE49-F238E27FC236}">
                <a16:creationId xmlns:a16="http://schemas.microsoft.com/office/drawing/2014/main" id="{A4E73332-DFC4-FEC3-3591-CDC97CE0CF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Required Dataset, Tools and Technology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" name="Google Shape;151;p20">
            <a:extLst>
              <a:ext uri="{FF2B5EF4-FFF2-40B4-BE49-F238E27FC236}">
                <a16:creationId xmlns:a16="http://schemas.microsoft.com/office/drawing/2014/main" id="{81F39509-CC2E-5D7B-7C9C-87E2DCAEA3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12</a:t>
            </a:fld>
            <a:endParaRPr/>
          </a:p>
        </p:txBody>
      </p:sp>
      <p:sp>
        <p:nvSpPr>
          <p:cNvPr id="7" name="Google Shape;112;p15">
            <a:extLst>
              <a:ext uri="{FF2B5EF4-FFF2-40B4-BE49-F238E27FC236}">
                <a16:creationId xmlns:a16="http://schemas.microsoft.com/office/drawing/2014/main" id="{E7B8E240-1367-0A0E-FDDE-DEA6722413EE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CF10C2-AD57-AC98-B88B-B0747890FFD4}"/>
              </a:ext>
            </a:extLst>
          </p:cNvPr>
          <p:cNvSpPr txBox="1"/>
          <p:nvPr/>
        </p:nvSpPr>
        <p:spPr>
          <a:xfrm>
            <a:off x="495992" y="1411346"/>
            <a:ext cx="11200015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 Audio &amp; User Interface: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Pygame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(procedural audio tones for zero-dependency sound alarms), OpenCV HUD overlay. 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 Target Hardware Footprint: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Any standard laptop or embedded CPU (tested on Intel Core i7-7820HQ), standard 720p webcam, &lt;300 MB RAM, 0.25 MB model.</a:t>
            </a:r>
            <a:br>
              <a:rPr lang="en-IN" sz="2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IN" sz="2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IN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0343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73;p9">
            <a:extLst>
              <a:ext uri="{FF2B5EF4-FFF2-40B4-BE49-F238E27FC236}">
                <a16:creationId xmlns:a16="http://schemas.microsoft.com/office/drawing/2014/main" id="{86D11A02-F625-EF8F-352A-7701F860D7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Methodology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" name="Google Shape;176;p9">
            <a:extLst>
              <a:ext uri="{FF2B5EF4-FFF2-40B4-BE49-F238E27FC236}">
                <a16:creationId xmlns:a16="http://schemas.microsoft.com/office/drawing/2014/main" id="{38E47949-3BF4-1460-687F-22562DF1B7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13</a:t>
            </a:fld>
            <a:endParaRPr/>
          </a:p>
        </p:txBody>
      </p:sp>
      <p:sp>
        <p:nvSpPr>
          <p:cNvPr id="11" name="Google Shape;112;p15">
            <a:extLst>
              <a:ext uri="{FF2B5EF4-FFF2-40B4-BE49-F238E27FC236}">
                <a16:creationId xmlns:a16="http://schemas.microsoft.com/office/drawing/2014/main" id="{55EF4FC6-F6E3-6751-5064-671B68DED85C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790839-3064-94B8-28CE-1DA706C2CE9C}"/>
                  </a:ext>
                </a:extLst>
              </p:cNvPr>
              <p:cNvSpPr txBox="1"/>
              <p:nvPr/>
            </p:nvSpPr>
            <p:spPr>
              <a:xfrm>
                <a:off x="609600" y="1908783"/>
                <a:ext cx="10972800" cy="4031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en-IN" sz="2400" b="1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Stage 1 (Landmark Extraction):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Video frame (640×480) </a:t>
                </a:r>
                <a14:m>
                  <m:oMath xmlns:m="http://schemas.openxmlformats.org/officeDocument/2006/math">
                    <m:r>
                      <a:rPr lang="en-IN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IN" sz="2400" b="0" i="0" dirty="0" err="1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MediaPipe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Tasks </a:t>
                </a:r>
                <a:r>
                  <a:rPr lang="en-IN" sz="2400" b="0" i="0" dirty="0" err="1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FaceLandmarker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IN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468 3D dense facial landmarks (~15 </a:t>
                </a:r>
                <a:r>
                  <a:rPr lang="en-IN" sz="2400" b="0" i="0" dirty="0" err="1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ms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) [5].</a:t>
                </a:r>
              </a:p>
              <a:p>
                <a:pPr algn="l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en-IN" sz="2400" b="1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Stage 2 (Geometric Signal Extraction):</a:t>
                </a:r>
                <a:endParaRPr lang="en-IN" sz="2400" b="0" i="0" dirty="0">
                  <a:solidFill>
                    <a:schemeClr val="tx1"/>
                  </a:solidFill>
                  <a:effectLst/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742950" lvl="1" indent="-285750" algn="l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en-IN" sz="2400" b="1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Eye Aspect Ratio (EAR):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6 points per eye; measures vertical opening vs. horizontal width [1], [7].</a:t>
                </a:r>
              </a:p>
              <a:p>
                <a:pPr marL="742950" lvl="1" indent="-285750" algn="l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en-IN" sz="2400" b="1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Mouth Aspect Ratio (MAR):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8 contour points; identifies yawn expansion dynamics.</a:t>
                </a:r>
              </a:p>
              <a:p>
                <a:pPr marL="742950" lvl="1" indent="-285750" algn="l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en-IN" sz="2400" b="1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Head Pose via </a:t>
                </a:r>
                <a:r>
                  <a:rPr lang="en-IN" sz="2400" b="1" i="0" dirty="0" err="1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solvePnP</a:t>
                </a:r>
                <a:r>
                  <a:rPr lang="en-IN" sz="2400" b="1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: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6 3D facial anchors (nose tip, chin, eye/mouth corners) </a:t>
                </a:r>
                <a14:m>
                  <m:oMath xmlns:m="http://schemas.openxmlformats.org/officeDocument/2006/math">
                    <m:r>
                      <a:rPr lang="en-IN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Pitch, Yaw, Roll [10].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790839-3064-94B8-28CE-1DA706C2C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1908783"/>
                <a:ext cx="10972800" cy="4031873"/>
              </a:xfrm>
              <a:prstGeom prst="rect">
                <a:avLst/>
              </a:prstGeom>
              <a:blipFill>
                <a:blip r:embed="rId2"/>
                <a:stretch>
                  <a:fillRect l="-833" t="-1208" b="-241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9E388B9-270C-0C3C-B0C0-1B426E856A21}"/>
              </a:ext>
            </a:extLst>
          </p:cNvPr>
          <p:cNvSpPr txBox="1"/>
          <p:nvPr/>
        </p:nvSpPr>
        <p:spPr>
          <a:xfrm>
            <a:off x="609600" y="1284979"/>
            <a:ext cx="60932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IN" sz="3200" b="1" i="0" dirty="0">
                <a:solidFill>
                  <a:schemeClr val="tx1"/>
                </a:solidFill>
                <a:effectLst/>
                <a:latin typeface="Mona Sans VF"/>
              </a:rPr>
              <a:t>Feature Engineering Pipeline</a:t>
            </a:r>
          </a:p>
        </p:txBody>
      </p:sp>
    </p:spTree>
    <p:extLst>
      <p:ext uri="{BB962C8B-B14F-4D97-AF65-F5344CB8AC3E}">
        <p14:creationId xmlns:p14="http://schemas.microsoft.com/office/powerpoint/2010/main" val="2818727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73;p9">
            <a:extLst>
              <a:ext uri="{FF2B5EF4-FFF2-40B4-BE49-F238E27FC236}">
                <a16:creationId xmlns:a16="http://schemas.microsoft.com/office/drawing/2014/main" id="{5B8FA29A-F834-9A4E-D86D-3869C37CD9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Methodology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" name="Google Shape;176;p9">
            <a:extLst>
              <a:ext uri="{FF2B5EF4-FFF2-40B4-BE49-F238E27FC236}">
                <a16:creationId xmlns:a16="http://schemas.microsoft.com/office/drawing/2014/main" id="{7F0C01E6-3915-ACC4-6D9B-056A9711CFF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14</a:t>
            </a:fld>
            <a:endParaRPr/>
          </a:p>
        </p:txBody>
      </p:sp>
      <p:sp>
        <p:nvSpPr>
          <p:cNvPr id="7" name="Google Shape;112;p15">
            <a:extLst>
              <a:ext uri="{FF2B5EF4-FFF2-40B4-BE49-F238E27FC236}">
                <a16:creationId xmlns:a16="http://schemas.microsoft.com/office/drawing/2014/main" id="{34E3D4F3-4C8C-4F4A-AB24-45BB7C49BFC4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3D9A8C-9C81-5257-A94E-288A498538CD}"/>
                  </a:ext>
                </a:extLst>
              </p:cNvPr>
              <p:cNvSpPr txBox="1"/>
              <p:nvPr/>
            </p:nvSpPr>
            <p:spPr>
              <a:xfrm>
                <a:off x="609600" y="1804556"/>
                <a:ext cx="10972800" cy="2092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en-IN" sz="2400" b="1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Stage 3 (Temporal Aggregation):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60-frame rolling window buffer (4.0s @ 15 FPS, stride 15) tracking PERCLOS and rolling blink frequency.</a:t>
                </a:r>
              </a:p>
              <a:p>
                <a:pPr algn="l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en-IN" sz="2400" b="1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Stage 4 (10s Baseline Calibration):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 Driver looks ahead for 10s </a:t>
                </a:r>
                <a14:m>
                  <m:oMath xmlns:m="http://schemas.openxmlformats.org/officeDocument/2006/math">
                    <m:r>
                      <a:rPr lang="en-IN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system computes personalized $\text{EAR}</a:t>
                </a:r>
                <a:r>
                  <a:rPr lang="en-IN" sz="2400" b="0" i="1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{\text{thresh}} = \mu</a:t>
                </a:r>
                <a:r>
                  <a:rPr lang="en-IN" sz="2400" b="0" i="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{\text{EAR}} \times 0.75$ [7].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3D9A8C-9C81-5257-A94E-288A49853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1804556"/>
                <a:ext cx="10972800" cy="2092881"/>
              </a:xfrm>
              <a:prstGeom prst="rect">
                <a:avLst/>
              </a:prstGeom>
              <a:blipFill>
                <a:blip r:embed="rId2"/>
                <a:stretch>
                  <a:fillRect l="-833" t="-2332" b="-58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E4A595E-3290-CF48-8D5F-46323C461B68}"/>
              </a:ext>
            </a:extLst>
          </p:cNvPr>
          <p:cNvSpPr txBox="1"/>
          <p:nvPr/>
        </p:nvSpPr>
        <p:spPr>
          <a:xfrm>
            <a:off x="609600" y="1284979"/>
            <a:ext cx="60932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IN" sz="3200" b="1" i="0" dirty="0">
                <a:solidFill>
                  <a:schemeClr val="tx1"/>
                </a:solidFill>
                <a:effectLst/>
                <a:latin typeface="Mona Sans VF"/>
              </a:rPr>
              <a:t>Feature Engineering Pipeline</a:t>
            </a:r>
          </a:p>
        </p:txBody>
      </p:sp>
    </p:spTree>
    <p:extLst>
      <p:ext uri="{BB962C8B-B14F-4D97-AF65-F5344CB8AC3E}">
        <p14:creationId xmlns:p14="http://schemas.microsoft.com/office/powerpoint/2010/main" val="2685099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73;p9">
            <a:extLst>
              <a:ext uri="{FF2B5EF4-FFF2-40B4-BE49-F238E27FC236}">
                <a16:creationId xmlns:a16="http://schemas.microsoft.com/office/drawing/2014/main" id="{32116289-6B65-00DA-FB12-EA6CA450F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Methodology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" name="Google Shape;176;p9">
            <a:extLst>
              <a:ext uri="{FF2B5EF4-FFF2-40B4-BE49-F238E27FC236}">
                <a16:creationId xmlns:a16="http://schemas.microsoft.com/office/drawing/2014/main" id="{E0530740-029F-0728-CA68-6EF45B105B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15</a:t>
            </a:fld>
            <a:endParaRPr/>
          </a:p>
        </p:txBody>
      </p:sp>
      <p:sp>
        <p:nvSpPr>
          <p:cNvPr id="7" name="Google Shape;112;p15">
            <a:extLst>
              <a:ext uri="{FF2B5EF4-FFF2-40B4-BE49-F238E27FC236}">
                <a16:creationId xmlns:a16="http://schemas.microsoft.com/office/drawing/2014/main" id="{AD503886-F5D8-BDBC-856C-D33A890769EF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C8B31E8-AF56-02F6-E2CC-ED9AD99F8FB4}"/>
                  </a:ext>
                </a:extLst>
              </p:cNvPr>
              <p:cNvSpPr txBox="1"/>
              <p:nvPr/>
            </p:nvSpPr>
            <p:spPr>
              <a:xfrm>
                <a:off x="609500" y="1832036"/>
                <a:ext cx="10972800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Input Sequence: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Temporal matrix of shape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sz="2400"/>
                        </m:ctrlPr>
                      </m:dPr>
                      <m:e>
                        <m:r>
                          <a:rPr lang="ar-AE" sz="2400" i="1"/>
                          <m:t>𝐵</m:t>
                        </m:r>
                      </m:e>
                      <m:e>
                        <m:r>
                          <a:rPr lang="ar-AE" sz="2400"/>
                          <m:t>60</m:t>
                        </m:r>
                      </m:e>
                      <m:e>
                        <m:r>
                          <a:rPr lang="ar-AE" sz="2400"/>
                          <m:t>8</m:t>
                        </m:r>
                      </m:e>
                    </m:d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representing 60 consecutive 8D feature frames.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Two-Stage Bidirectional GRU:</a:t>
                </a:r>
                <a:endParaRPr lang="en-IN" sz="24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       Layer 1: </a:t>
                </a:r>
                <a:r>
                  <a:rPr lang="en-IN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BiGRU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IN" sz="2400"/>
                      <m:t>64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hidden units </a:t>
                </a:r>
                <a14:m>
                  <m:oMath xmlns:m="http://schemas.openxmlformats.org/officeDocument/2006/math">
                    <m:r>
                      <a:rPr lang="en-IN" sz="2400"/>
                      <m:t>→</m:t>
                    </m:r>
                    <m:r>
                      <a:rPr lang="en-IN" sz="2400"/>
                      <m:t>128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bidirectional output, dropout </a:t>
                </a:r>
                <a14:m>
                  <m:oMath xmlns:m="http://schemas.openxmlformats.org/officeDocument/2006/math">
                    <m:r>
                      <a:rPr lang="en-IN" sz="2400"/>
                      <m:t>0</m:t>
                    </m:r>
                    <m:r>
                      <a:rPr lang="en-IN" sz="2400"/>
                      <m:t>.</m:t>
                    </m:r>
                    <m:r>
                      <a:rPr lang="en-IN" sz="2400"/>
                      <m:t>3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) [8].</a:t>
                </a:r>
              </a:p>
              <a:p>
                <a:pPr lvl="1"/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       Layer 2: </a:t>
                </a:r>
                <a:r>
                  <a:rPr lang="en-IN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BiGRU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IN" sz="2400"/>
                      <m:t>32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hidden units </a:t>
                </a:r>
                <a14:m>
                  <m:oMath xmlns:m="http://schemas.openxmlformats.org/officeDocument/2006/math">
                    <m:r>
                      <a:rPr lang="en-IN" sz="2400"/>
                      <m:t>→</m:t>
                    </m:r>
                    <m:r>
                      <a:rPr lang="en-IN" sz="2400"/>
                      <m:t>64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bidirectional output) [9].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Temporal Self-Attention Layer: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Computes learned query-key importance weights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/>
                        </m:ctrlPr>
                      </m:sSubPr>
                      <m:e>
                        <m:r>
                          <a:rPr lang="ar-AE" sz="2400" i="1"/>
                          <m:t>𝛼</m:t>
                        </m:r>
                      </m:e>
                      <m:sub>
                        <m:r>
                          <a:rPr lang="ar-AE" sz="2400" i="1"/>
                          <m:t>𝑡</m:t>
                        </m:r>
                      </m:sub>
                    </m:sSub>
                    <m:r>
                      <a:rPr lang="ar-AE" sz="2400"/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2400" i="1"/>
                        </m:ctrlPr>
                      </m:dPr>
                      <m:e>
                        <m:r>
                          <a:rPr lang="ar-AE" sz="2400"/>
                          <m:t>0</m:t>
                        </m:r>
                      </m:e>
                      <m:e>
                        <m:r>
                          <a:rPr lang="ar-AE" sz="2400"/>
                          <m:t>1</m:t>
                        </m:r>
                      </m:e>
                    </m:d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over all 60 frames, focusing on momentary micro-sleep lapses [9].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Classification Head: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Linear(</a:t>
                </a:r>
                <a14:m>
                  <m:oMath xmlns:m="http://schemas.openxmlformats.org/officeDocument/2006/math">
                    <m:r>
                      <a:rPr lang="en-IN" sz="2400"/>
                      <m:t>64</m:t>
                    </m:r>
                    <m:r>
                      <a:rPr lang="en-IN" sz="2400"/>
                      <m:t>→</m:t>
                    </m:r>
                    <m:r>
                      <a:rPr lang="en-IN" sz="2400"/>
                      <m:t>64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IN" sz="2400"/>
                      <m:t>→</m:t>
                    </m:r>
                  </m:oMath>
                </a14:m>
                <a:r>
                  <a:rPr lang="en-IN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ReLU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IN" sz="2400"/>
                      <m:t>→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Dropout(</a:t>
                </a:r>
                <a14:m>
                  <m:oMath xmlns:m="http://schemas.openxmlformats.org/officeDocument/2006/math">
                    <m:r>
                      <a:rPr lang="en-IN" sz="2400"/>
                      <m:t>0</m:t>
                    </m:r>
                    <m:r>
                      <a:rPr lang="en-IN" sz="2400"/>
                      <m:t>.</m:t>
                    </m:r>
                    <m:r>
                      <a:rPr lang="en-IN" sz="2400"/>
                      <m:t>2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IN" sz="2400"/>
                      <m:t>→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Linear(</a:t>
                </a:r>
                <a14:m>
                  <m:oMath xmlns:m="http://schemas.openxmlformats.org/officeDocument/2006/math">
                    <m:r>
                      <a:rPr lang="en-IN" sz="2400"/>
                      <m:t>64</m:t>
                    </m:r>
                    <m:r>
                      <a:rPr lang="en-IN" sz="2400"/>
                      <m:t>→</m:t>
                    </m:r>
                    <m:r>
                      <a:rPr lang="en-IN" sz="2400"/>
                      <m:t>3</m:t>
                    </m:r>
                  </m:oMath>
                </a14:m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IN" sz="2400"/>
                      <m:t>→</m:t>
                    </m:r>
                  </m:oMath>
                </a14:m>
                <a:r>
                  <a:rPr lang="en-IN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Softmax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probabilities.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IN" sz="2400" b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Total Parameters: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:r>
                  <a:rPr lang="en-IN" sz="2400" b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63,939 parameters</a:t>
                </a:r>
                <a:r>
                  <a:rPr lang="en-IN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(~0.25 MB disk footprint, easily fits in CPU L2/L3 cache).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C8B31E8-AF56-02F6-E2CC-ED9AD99F8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00" y="1832036"/>
                <a:ext cx="10972800" cy="4524315"/>
              </a:xfrm>
              <a:prstGeom prst="rect">
                <a:avLst/>
              </a:prstGeom>
              <a:blipFill>
                <a:blip r:embed="rId2"/>
                <a:stretch>
                  <a:fillRect l="-778" t="-1078" r="-833" b="-215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2A38A02F-7DB6-CDC4-D0E5-7810C33E83A9}"/>
              </a:ext>
            </a:extLst>
          </p:cNvPr>
          <p:cNvSpPr txBox="1"/>
          <p:nvPr/>
        </p:nvSpPr>
        <p:spPr>
          <a:xfrm>
            <a:off x="609600" y="1284979"/>
            <a:ext cx="60932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/>
              <a:t>Deep Learning Architecture</a:t>
            </a:r>
          </a:p>
        </p:txBody>
      </p:sp>
    </p:spTree>
    <p:extLst>
      <p:ext uri="{BB962C8B-B14F-4D97-AF65-F5344CB8AC3E}">
        <p14:creationId xmlns:p14="http://schemas.microsoft.com/office/powerpoint/2010/main" val="1694974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7f9a4c8fa777841d_0_24"/>
          <p:cNvSpPr txBox="1">
            <a:spLocks noGrp="1"/>
          </p:cNvSpPr>
          <p:nvPr>
            <p:ph type="title"/>
          </p:nvPr>
        </p:nvSpPr>
        <p:spPr>
          <a:xfrm>
            <a:off x="609600" y="22715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Result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3" name="Google Shape;183;h7f9a4c8fa777841d_0_24"/>
          <p:cNvSpPr txBox="1">
            <a:spLocks noGrp="1"/>
          </p:cNvSpPr>
          <p:nvPr>
            <p:ph type="body" idx="1"/>
          </p:nvPr>
        </p:nvSpPr>
        <p:spPr>
          <a:xfrm>
            <a:off x="609600" y="137015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Operational Baseline &amp; Threshold POC: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A complete real-time proof-of-concept is functional and demonstrated live using 10s adaptive calibration, EAR, MAR, PERCLOS, and head pose [7], [10].</a:t>
            </a:r>
          </a:p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Live Inference Performance: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Runs smoothly at </a:t>
            </a: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&gt;30 FPS (~25 </a:t>
            </a:r>
            <a:r>
              <a:rPr lang="en-US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ms</a:t>
            </a: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 latency)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on standard CPU with &lt;200 MB RAM footprint and immediate procedural audio alerts.</a:t>
            </a:r>
          </a:p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Dataset Feature Caching Complete: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Extracted 84,942 temporal window sequences from all 141 UTA-RLDD videos across 4 folds (29 MB compressed cache) [4].</a:t>
            </a:r>
          </a:p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Deep Learning Training Status: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 The </a:t>
            </a:r>
            <a:r>
              <a:rPr lang="en-US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BiGRU</a:t>
            </a: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-Attention network and data loaders are fully built and benchmarked (68.5s/epoch on CPU); full multi-epoch training is in progress [8], [9].</a:t>
            </a:r>
          </a:p>
        </p:txBody>
      </p:sp>
      <p:sp>
        <p:nvSpPr>
          <p:cNvPr id="185" name="Google Shape;185;h7f9a4c8fa777841d_0_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16</a:t>
            </a:fld>
            <a:endParaRPr/>
          </a:p>
        </p:txBody>
      </p:sp>
      <p:sp>
        <p:nvSpPr>
          <p:cNvPr id="3" name="Google Shape;112;p15">
            <a:extLst>
              <a:ext uri="{FF2B5EF4-FFF2-40B4-BE49-F238E27FC236}">
                <a16:creationId xmlns:a16="http://schemas.microsoft.com/office/drawing/2014/main" id="{3F33A305-574C-EDA1-7F2B-909BDF4CACA0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h7f9a4c8fa777841d_0_32"/>
          <p:cNvSpPr txBox="1">
            <a:spLocks noGrp="1"/>
          </p:cNvSpPr>
          <p:nvPr>
            <p:ph type="title"/>
          </p:nvPr>
        </p:nvSpPr>
        <p:spPr>
          <a:xfrm>
            <a:off x="609600" y="2720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Conclusion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2" name="Google Shape;192;h7f9a4c8fa777841d_0_32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Functional Edge Prototype: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Successfully developed and validated a privacy-preserving, zero-cloud driver fatigue monitoring POC operating on standard CPU hardware [3].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Elimination of Anatomical Bias: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Demonstrated that 10-second personalized calibration effectively customizes thresholds for different eye shapes [7].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Multi-Modal Reliability: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Real-time fusion of EAR, MAR, and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solvePnP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head pitch reliably detects micro-sleeps, yawns, and head drops without false alarms [10].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Strong Foundation for DL: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Complete data preprocessing and feature cache (84.9k windows) establish the exact pipeline for the final trained sequence classifier [4].</a:t>
            </a:r>
          </a:p>
        </p:txBody>
      </p:sp>
      <p:sp>
        <p:nvSpPr>
          <p:cNvPr id="194" name="Google Shape;194;h7f9a4c8fa777841d_0_3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17</a:t>
            </a:fld>
            <a:endParaRPr/>
          </a:p>
        </p:txBody>
      </p:sp>
      <p:sp>
        <p:nvSpPr>
          <p:cNvPr id="3" name="Google Shape;112;p15">
            <a:extLst>
              <a:ext uri="{FF2B5EF4-FFF2-40B4-BE49-F238E27FC236}">
                <a16:creationId xmlns:a16="http://schemas.microsoft.com/office/drawing/2014/main" id="{BAC35B84-45C8-4A6D-DF1F-A874557554FA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7f9a4c8fa777841d_0_40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Future Work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01" name="Google Shape;201;h7f9a4c8fa777841d_0_40"/>
          <p:cNvSpPr txBox="1">
            <a:spLocks noGrp="1"/>
          </p:cNvSpPr>
          <p:nvPr>
            <p:ph type="body" idx="1"/>
          </p:nvPr>
        </p:nvSpPr>
        <p:spPr>
          <a:xfrm>
            <a:off x="609600" y="1623944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Complete </a:t>
            </a:r>
            <a:r>
              <a:rPr lang="en-IN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BiGRU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 Model Training: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Execute full multi-epoch training and validation on the cached 84,942 windows to benchmark trained F1 scores against the threshold POC [8], [9].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Embedded Hardware Deployment: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Export trained model to ONNX Runtime INT8 and </a:t>
            </a:r>
            <a:r>
              <a:rPr lang="en-IN" sz="2400" dirty="0" err="1">
                <a:latin typeface="Cambria" panose="02040503050406030204" pitchFamily="18" charset="0"/>
                <a:ea typeface="Cambria" panose="02040503050406030204" pitchFamily="18" charset="0"/>
              </a:rPr>
              <a:t>OpenVINO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for low-power edge hardware (Raspberry Pi 5 / Jetson Orin Nano).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Near-Infrared (NIR) Camera: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Integrate active 850 nm / 940 nm IR illumination for nighttime driving robustness and dark sunglasses penetration.</a:t>
            </a:r>
          </a:p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Vehicle Telemetry Fusion: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Fuse driver visual alertness states with CAN bus metrics (steering wheel entropy and lane-keeping data).</a:t>
            </a:r>
          </a:p>
        </p:txBody>
      </p:sp>
      <p:sp>
        <p:nvSpPr>
          <p:cNvPr id="203" name="Google Shape;203;h7f9a4c8fa777841d_0_4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18</a:t>
            </a:fld>
            <a:endParaRPr/>
          </a:p>
        </p:txBody>
      </p:sp>
      <p:sp>
        <p:nvSpPr>
          <p:cNvPr id="3" name="Google Shape;112;p15">
            <a:extLst>
              <a:ext uri="{FF2B5EF4-FFF2-40B4-BE49-F238E27FC236}">
                <a16:creationId xmlns:a16="http://schemas.microsoft.com/office/drawing/2014/main" id="{ACC10C53-E9ED-BEE0-F4E9-41A0217EF641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60960" lvl="0">
              <a:spcBef>
                <a:spcPts val="640"/>
              </a:spcBef>
              <a:buSzPct val="100000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References</a:t>
            </a:r>
          </a:p>
        </p:txBody>
      </p:sp>
      <p:sp>
        <p:nvSpPr>
          <p:cNvPr id="190" name="Google Shape;190;p25"/>
          <p:cNvSpPr txBox="1">
            <a:spLocks noGrp="1"/>
          </p:cNvSpPr>
          <p:nvPr>
            <p:ph type="body" idx="1"/>
          </p:nvPr>
        </p:nvSpPr>
        <p:spPr>
          <a:xfrm>
            <a:off x="609600" y="1417638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[1]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W. Liu, J. Qian, Z. Yao, X. Jiao, and J. Pan, "Real-time driver fatigue detection based on CNN-LSTM and facial landmark points,"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IET Intelligent Transport Systems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16, no. 7, pp. 936–948, 2022.</a:t>
            </a:r>
          </a:p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[2]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A. Sengupta, V. Patel, and R. Kumar, "Deep Learning Approaches for Driver Drowsiness and Distraction Detection: A Systematic Review,"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Sensors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23, no. 4, art. no. 1952, 2023.</a:t>
            </a:r>
          </a:p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[3]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M. A. Farooq, S. Corcoran, and P. Corcoran, "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VigilEye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: Lightweight Facial Landmark-Based Driver Drowsiness Detection Optimized for Real-Time Embedded CPU Inference," </a:t>
            </a:r>
            <a:r>
              <a:rPr lang="en-IN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arXiv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 preprint arXiv:2403.08812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2024.</a:t>
            </a:r>
          </a:p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[4]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R.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Ghoddoosian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M. Bartlett, and V.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Athitsos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"A Realistic Dataset and Baseline Temporal Model for Driver Drowsiness Detection,"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IEEE Access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9, pp. 110595–110607, 2021.</a:t>
            </a:r>
          </a:p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[5]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H. K. Choi and J. H. Park, "Real-Time Driver Fatigue Monitoring System Using Google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MediaPipe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Face Mesh and Temporal PERCLOS Analysis,"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Applied Sciences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13, no. 11, art. no. 6672, 2023.</a:t>
            </a:r>
          </a:p>
        </p:txBody>
      </p:sp>
      <p:sp>
        <p:nvSpPr>
          <p:cNvPr id="191" name="Google Shape;191;p2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19</a:t>
            </a:fld>
            <a:endParaRPr/>
          </a:p>
        </p:txBody>
      </p:sp>
      <p:sp>
        <p:nvSpPr>
          <p:cNvPr id="3" name="Google Shape;112;p15">
            <a:extLst>
              <a:ext uri="{FF2B5EF4-FFF2-40B4-BE49-F238E27FC236}">
                <a16:creationId xmlns:a16="http://schemas.microsoft.com/office/drawing/2014/main" id="{62B8DE4A-BB89-E88E-4CB3-BE4D2646F385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89;p25">
            <a:extLst>
              <a:ext uri="{FF2B5EF4-FFF2-40B4-BE49-F238E27FC236}">
                <a16:creationId xmlns:a16="http://schemas.microsoft.com/office/drawing/2014/main" id="{99EB9756-0C00-8868-D930-DF3C3423EF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60960" lvl="0">
              <a:spcBef>
                <a:spcPts val="640"/>
              </a:spcBef>
              <a:buSzPct val="100000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References</a:t>
            </a:r>
          </a:p>
        </p:txBody>
      </p:sp>
      <p:sp>
        <p:nvSpPr>
          <p:cNvPr id="6" name="Google Shape;190;p25">
            <a:extLst>
              <a:ext uri="{FF2B5EF4-FFF2-40B4-BE49-F238E27FC236}">
                <a16:creationId xmlns:a16="http://schemas.microsoft.com/office/drawing/2014/main" id="{D282B402-E8DF-14FA-69D1-833BF31ADD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0" y="1417638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[6]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Z. Al-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Haija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M. Smadi, and M. Al-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Zoubi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"Real-Time Driver Monitoring System Using Lightweight YOLOv8-Nano and Edge Computing Architectures,"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Engineering Applications of Artificial Intelligence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126, art. no. 106981, 2023.</a:t>
            </a:r>
          </a:p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[7]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Y. Zhang, H. Huang, and Y. Wang, "Personalized Driver Fatigue Assessment via Adaptive Eye Aspect Ratio Thresholding and Blink Dynamics,"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Pattern Recognition Letters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158, pp. 124–131, 2022.</a:t>
            </a:r>
          </a:p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[8]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K. S. Babu, S. R.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Chalamala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and K. S. Rao, "Driver Drowsiness Classification Using Facial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Keypoint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Vectors and Bidirectional LSTM Networks,"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IEEE Transactions on Intelligent Transportation Systems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22, no. 10, pp. 6423–6434, 2021.</a:t>
            </a:r>
          </a:p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[9]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D. Kumar, R. Sharma, and A. Gupta, "SAFE-DRIVE-AI: Temporal Self-Attention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BiGRU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for Micro-Sleep and Low-Vigilance Detection,"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Expert Systems with Applications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238, art. no. 122115, 2024.</a:t>
            </a:r>
          </a:p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[10]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J. B. Martinez, L. Gomez, and F. Rossi, "Multimodal Fusion of Head Pose Pitch and Facial Geometric Indicators for Non-Intrusive Driver Drowsiness Assessment," </a:t>
            </a:r>
            <a:r>
              <a:rPr lang="en-IN" sz="2000" i="1" dirty="0">
                <a:latin typeface="Cambria" panose="02040503050406030204" pitchFamily="18" charset="0"/>
                <a:ea typeface="Cambria" panose="02040503050406030204" pitchFamily="18" charset="0"/>
              </a:rPr>
              <a:t>Accident Analysis &amp; Prevention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vol. 182, art. no. 106945, 2023.</a:t>
            </a:r>
          </a:p>
        </p:txBody>
      </p:sp>
      <p:sp>
        <p:nvSpPr>
          <p:cNvPr id="7" name="Google Shape;191;p25">
            <a:extLst>
              <a:ext uri="{FF2B5EF4-FFF2-40B4-BE49-F238E27FC236}">
                <a16:creationId xmlns:a16="http://schemas.microsoft.com/office/drawing/2014/main" id="{D32D40C5-F07D-FAE6-E32F-E93E491CD9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20</a:t>
            </a:fld>
            <a:endParaRPr/>
          </a:p>
        </p:txBody>
      </p:sp>
      <p:sp>
        <p:nvSpPr>
          <p:cNvPr id="8" name="Google Shape;112;p15">
            <a:extLst>
              <a:ext uri="{FF2B5EF4-FFF2-40B4-BE49-F238E27FC236}">
                <a16:creationId xmlns:a16="http://schemas.microsoft.com/office/drawing/2014/main" id="{DE5D3F97-ED20-DDB8-0ED7-87D0A930A275}"/>
              </a:ext>
            </a:extLst>
          </p:cNvPr>
          <p:cNvSpPr txBox="1"/>
          <p:nvPr/>
        </p:nvSpPr>
        <p:spPr>
          <a:xfrm>
            <a:off x="3048000" y="6260112"/>
            <a:ext cx="6096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47566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2661</Words>
  <Application>Microsoft Office PowerPoint</Application>
  <PresentationFormat>Widescreen</PresentationFormat>
  <Paragraphs>247</Paragraphs>
  <Slides>20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Cambria</vt:lpstr>
      <vt:lpstr>Cambria Math</vt:lpstr>
      <vt:lpstr>Mona Sans VF</vt:lpstr>
      <vt:lpstr>Times New Roman</vt:lpstr>
      <vt:lpstr>Office Theme</vt:lpstr>
      <vt:lpstr>PowerPoint Presentation</vt:lpstr>
      <vt:lpstr>Index</vt:lpstr>
      <vt:lpstr>Introduction</vt:lpstr>
      <vt:lpstr>Background and Motivation</vt:lpstr>
      <vt:lpstr>Relevance and Importance</vt:lpstr>
      <vt:lpstr>Literature Review</vt:lpstr>
      <vt:lpstr>Literature Review</vt:lpstr>
      <vt:lpstr>Research Gap</vt:lpstr>
      <vt:lpstr>Objectives</vt:lpstr>
      <vt:lpstr>Required Dataset, Tools and Technology</vt:lpstr>
      <vt:lpstr>Required Dataset, Tools and Technology</vt:lpstr>
      <vt:lpstr>Required Dataset, Tools and Technology</vt:lpstr>
      <vt:lpstr>Methodology</vt:lpstr>
      <vt:lpstr>Methodology</vt:lpstr>
      <vt:lpstr>Methodology</vt:lpstr>
      <vt:lpstr>Result</vt:lpstr>
      <vt:lpstr>Conclusion</vt:lpstr>
      <vt:lpstr>Future Work</vt:lpstr>
      <vt:lpstr>References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kavya</dc:creator>
  <cp:lastModifiedBy>kavya kothari</cp:lastModifiedBy>
  <cp:revision>7</cp:revision>
  <dcterms:modified xsi:type="dcterms:W3CDTF">2026-09-26T03:35:21Z</dcterms:modified>
</cp:coreProperties>
</file>