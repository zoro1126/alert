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71" r:id="rId16"/>
    <p:sldId id="272" r:id="rId17"/>
    <p:sldId id="273" r:id="rId18"/>
    <p:sldId id="268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7EDC67-28D4-409D-A043-197229C30CE6}">
  <a:tblStyle styleId="{407EDC67-28D4-409D-A043-197229C30C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-240" y="98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5" name="Google Shape;11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3" name="Google Shape;12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1" name="Google Shape;13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7f9a4c8fa777841d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4" name="Google Shape;144;h7f9a4c8fa777841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6de3e5e92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g3f6de3e5e92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7" name="Google Shape;14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6de3e5e92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5" name="Google Shape;155;g3f6de3e5e92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6de3e5e92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3" name="Google Shape;163;g3f6de3e5e92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1" name="Google Shape;1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6de3e5e92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g3f6de3e5e9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1" name="Google Shape;1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7f9a4c8fa777841d_0_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0" name="Google Shape;180;h7f9a4c8fa777841d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h7f9a4c8fa777841d_0_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9" name="Google Shape;189;h7f9a4c8fa777841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h7f9a4c8fa777841d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8" name="Google Shape;198;h7f9a4c8fa777841d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1" name="Google Shape;21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226037" y="0"/>
            <a:ext cx="1965963" cy="5689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8" name="Google Shape;28;p3" title="SOU_LOGO_new-removebg (1) (9)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815721" y="0"/>
            <a:ext cx="2376274" cy="51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91217" y="0"/>
            <a:ext cx="2066929" cy="5982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52" name="Google Shape;52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22907" y="1"/>
            <a:ext cx="2137230" cy="6185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69" name="Google Shape;69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20764" y="0"/>
            <a:ext cx="2139373" cy="619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body" idx="1"/>
          </p:nvPr>
        </p:nvSpPr>
        <p:spPr>
          <a:xfrm rot="5400000">
            <a:off x="3833019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3"/>
          <p:cNvPicPr preferRelativeResize="0"/>
          <p:nvPr/>
        </p:nvPicPr>
        <p:blipFill rotWithShape="1">
          <a:blip r:embed="rId3">
            <a:alphaModFix/>
          </a:blip>
          <a:srcRect r="2610"/>
          <a:stretch/>
        </p:blipFill>
        <p:spPr>
          <a:xfrm>
            <a:off x="-6199" y="-1"/>
            <a:ext cx="12192001" cy="573932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/>
          <p:nvPr/>
        </p:nvSpPr>
        <p:spPr>
          <a:xfrm>
            <a:off x="-18600" y="3875476"/>
            <a:ext cx="12204300" cy="2982600"/>
          </a:xfrm>
          <a:prstGeom prst="rect">
            <a:avLst/>
          </a:prstGeom>
          <a:solidFill>
            <a:srgbClr val="95373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imes New Roman"/>
              <a:buNone/>
            </a:pPr>
            <a:endParaRPr sz="3600" b="1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5" name="Google Shape;95;p13" title="SOU_LOGO_new-removebg (1) (9)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898992" y="0"/>
            <a:ext cx="3292999" cy="712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6" name="Google Shape;96;p13"/>
          <p:cNvGraphicFramePr/>
          <p:nvPr/>
        </p:nvGraphicFramePr>
        <p:xfrm>
          <a:off x="1041575" y="4066800"/>
          <a:ext cx="10019325" cy="2666850"/>
        </p:xfrm>
        <a:graphic>
          <a:graphicData uri="http://schemas.openxmlformats.org/drawingml/2006/table">
            <a:tbl>
              <a:tblPr>
                <a:noFill/>
                <a:tableStyleId>{407EDC67-28D4-409D-A043-197229C30CE6}</a:tableStyleId>
              </a:tblPr>
              <a:tblGrid>
                <a:gridCol w="4070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Project ID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CE_AIML_31</a:t>
                      </a:r>
                      <a:endParaRPr sz="2000"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Enrollment No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2301030600043, 2301030600045, 2301030600049</a:t>
                      </a:r>
                      <a:endParaRPr sz="1800" b="1" u="none" strike="noStrike" cap="none">
                        <a:solidFill>
                          <a:srgbClr val="FFFFFF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Name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Prem Deshani, Kavya Kothari, Mehulsinh Rathod</a:t>
                      </a:r>
                      <a:endParaRPr sz="2000" b="1" u="none" strike="noStrike" cap="none">
                        <a:solidFill>
                          <a:srgbClr val="FFFFFF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Branch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BTech. CE-AIML</a:t>
                      </a:r>
                      <a:endParaRPr sz="2000"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rPr lang="en-IN" sz="2300" b="1" u="none" strike="noStrike" cap="none">
                          <a:solidFill>
                            <a:schemeClr val="lt1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Guide Name</a:t>
                      </a:r>
                      <a:endParaRPr sz="2300" b="1" u="none" strike="noStrike" cap="none">
                        <a:solidFill>
                          <a:schemeClr val="lt1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>
                          <a:solidFill>
                            <a:srgbClr val="FFFFFF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Ms Vishwa Patel</a:t>
                      </a:r>
                      <a:endParaRPr sz="2000" b="1" u="none" strike="noStrike" cap="none">
                        <a:solidFill>
                          <a:srgbClr val="FFFFFF"/>
                        </a:solidFill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7" name="Google Shape;97;p13"/>
          <p:cNvSpPr txBox="1"/>
          <p:nvPr/>
        </p:nvSpPr>
        <p:spPr>
          <a:xfrm>
            <a:off x="805796" y="822153"/>
            <a:ext cx="105804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IN" sz="5400" b="1" i="0" u="none" strike="noStrike" cap="none">
                <a:solidFill>
                  <a:srgbClr val="6324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Minor Project</a:t>
            </a:r>
            <a:endParaRPr sz="5400" b="1" i="0" u="none" strike="noStrike" cap="none">
              <a:solidFill>
                <a:srgbClr val="63242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5400" b="1" i="0" u="none" strike="noStrike" cap="none">
                <a:solidFill>
                  <a:srgbClr val="6324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1010063491</a:t>
            </a:r>
            <a:endParaRPr sz="5400" b="1" i="0" u="none" strike="noStrike" cap="none">
              <a:solidFill>
                <a:srgbClr val="63242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IN" sz="5400" b="1">
                <a:solidFill>
                  <a:srgbClr val="6324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A.L.E.R.T.</a:t>
            </a:r>
            <a:endParaRPr sz="5400" b="1" i="0" u="none" strike="noStrike" cap="none">
              <a:solidFill>
                <a:srgbClr val="63242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Index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3" name="Google Shape;103;p14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Introduction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Background and Motivation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Relevance and Importance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Literature review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Objectives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Required Tools and Technology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Method/ Approach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mbria"/>
              <a:buChar char="•"/>
            </a:pPr>
            <a:r>
              <a:rPr lang="en-IN" dirty="0">
                <a:latin typeface="Cambria"/>
                <a:ea typeface="Cambria"/>
                <a:cs typeface="Cambria"/>
                <a:sym typeface="Cambria"/>
              </a:rPr>
              <a:t>Bibliography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4" name="Google Shape;104;p1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I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Automotive Safety Crisis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Driver fatigue causes over 20% of commercial vehicle crashes worldwide, making real-time Driver Monitoring Systems (DMS) essential.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Facial Behavioral Analysis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Uses non-invasive computer vision to analyze eye openness (EAR), yawning (MAR), PERCLOS, and head pose angles.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The Non-IoT Edge Approach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Executes 100% on-device AI inference directly on embedded hardware (Raspberry Pi 5 / NVIDIA Jetson Orin Nano).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Key Technical Advantages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Delivers sub-5ms latency, complete offline reliability, zero cellular bandwidth cost ($0/mo), and total data privacy (GDPR compliance).</a:t>
            </a:r>
            <a:endParaRPr sz="2500"/>
          </a:p>
        </p:txBody>
      </p:sp>
      <p:sp>
        <p:nvSpPr>
          <p:cNvPr id="110" name="Google Shape;110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Introduction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1" name="Google Shape;111;p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3</a:t>
            </a:fld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Background and Motivation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Flaws of Cloud/IoT Architectures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Cloud-dependent systems suffer from network latency jitter (150ms–500ms+), rendering micro-sleep alerts ineffective.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Connectivity Dead Zones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Vehicles frequently navigate tunnels, mountain passes, and rural highways where 4G/5G cellular signal is lost.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Biometric Privacy Liabilities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Transmitting high-definition facial video streams to cloud servers poses severe GDPR and biometric privacy risks.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High Operating Expense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Cloud video streaming costs $15–$30/month per vehicle in cellular data and cloud server compute fees.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Edge Motivation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An autonomous, sub-5ms on-device system guarantees 100% alert reliability anywhere without recurring costs.</a:t>
            </a:r>
            <a:endParaRPr sz="2500"/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4</a:t>
            </a:fld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Relevance and Importance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6" name="Google Shape;126;p17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746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IN" sz="2300" b="1">
                <a:latin typeface="Cambria"/>
                <a:ea typeface="Cambria"/>
                <a:cs typeface="Cambria"/>
                <a:sym typeface="Cambria"/>
              </a:rPr>
              <a:t>Sub-5ms Compression Pipeline</a:t>
            </a:r>
            <a:r>
              <a:rPr lang="en-IN" sz="2300">
                <a:latin typeface="Cambria"/>
                <a:ea typeface="Cambria"/>
                <a:cs typeface="Cambria"/>
                <a:sym typeface="Cambria"/>
              </a:rPr>
              <a:t>: Combines MediaPipe BlazeFace + Face Mesh backbones with Quantization-Aware Training (QAT INT8) for sub-5ms inference.</a:t>
            </a:r>
            <a:endParaRPr sz="2300"/>
          </a:p>
          <a:p>
            <a:pPr marL="457200" lvl="0" indent="-3746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IN" sz="2300" b="1">
                <a:latin typeface="Cambria"/>
                <a:ea typeface="Cambria"/>
                <a:cs typeface="Cambria"/>
                <a:sym typeface="Cambria"/>
              </a:rPr>
              <a:t>24/7 NIR Lighting Robustness</a:t>
            </a:r>
            <a:r>
              <a:rPr lang="en-IN" sz="2300">
                <a:latin typeface="Cambria"/>
                <a:ea typeface="Cambria"/>
                <a:cs typeface="Cambria"/>
                <a:sym typeface="Cambria"/>
              </a:rPr>
              <a:t>: Implements 850nm / 940nm Near-Infrared illumination with adaptive CLAHE contrast enhancement for day &amp; night operation.</a:t>
            </a:r>
            <a:endParaRPr sz="2300"/>
          </a:p>
          <a:p>
            <a:pPr marL="457200" lvl="0" indent="-3746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IN" sz="2300" b="1">
                <a:latin typeface="Cambria"/>
                <a:ea typeface="Cambria"/>
                <a:cs typeface="Cambria"/>
                <a:sym typeface="Cambria"/>
              </a:rPr>
              <a:t>Eyewear &amp; Sunglasses Robustness</a:t>
            </a:r>
            <a:r>
              <a:rPr lang="en-IN" sz="2300">
                <a:latin typeface="Cambria"/>
                <a:ea typeface="Cambria"/>
                <a:cs typeface="Cambria"/>
                <a:sym typeface="Cambria"/>
              </a:rPr>
              <a:t>: Features dual-wavelength NIR penetration and dynamic fallback to Mouth Aspect Ratio (MAR) + Head Nodding when eyes are occluded.</a:t>
            </a:r>
            <a:endParaRPr sz="2300"/>
          </a:p>
          <a:p>
            <a:pPr marL="457200" lvl="0" indent="-3746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IN" sz="2300" b="1">
                <a:latin typeface="Cambria"/>
                <a:ea typeface="Cambria"/>
                <a:cs typeface="Cambria"/>
                <a:sym typeface="Cambria"/>
              </a:rPr>
              <a:t>Personalized Calibration (&lt;10s)</a:t>
            </a:r>
            <a:r>
              <a:rPr lang="en-IN" sz="2300">
                <a:latin typeface="Cambria"/>
                <a:ea typeface="Cambria"/>
                <a:cs typeface="Cambria"/>
                <a:sym typeface="Cambria"/>
              </a:rPr>
              <a:t>: Automatically calculates baseline thresholds (EAR_thresh = mean - 2.5*std) without manual configuration.</a:t>
            </a:r>
            <a:endParaRPr sz="2300"/>
          </a:p>
          <a:p>
            <a:pPr marL="457200" lvl="0" indent="-3746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IN" sz="2300" b="1">
                <a:latin typeface="Cambria"/>
                <a:ea typeface="Cambria"/>
                <a:cs typeface="Cambria"/>
                <a:sym typeface="Cambria"/>
              </a:rPr>
              <a:t>Commercial Relevance</a:t>
            </a:r>
            <a:r>
              <a:rPr lang="en-IN" sz="2300">
                <a:latin typeface="Cambria"/>
                <a:ea typeface="Cambria"/>
                <a:cs typeface="Cambria"/>
                <a:sym typeface="Cambria"/>
              </a:rPr>
              <a:t>: Reduces fleet accident rates, lowers insurance liabilities, and scales easily across commercial trucking, buses, and ride-shares.</a:t>
            </a:r>
            <a:endParaRPr sz="2300"/>
          </a:p>
        </p:txBody>
      </p:sp>
      <p:sp>
        <p:nvSpPr>
          <p:cNvPr id="127" name="Google Shape;127;p1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5</a:t>
            </a:fld>
            <a:endParaRPr/>
          </a:p>
        </p:txBody>
      </p:sp>
      <p:sp>
        <p:nvSpPr>
          <p:cNvPr id="128" name="Google Shape;128;p17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Soukupova &amp; Cech (2016) [R1]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Introduced Eye Aspect Ratio (EAR) using 68 facial landmarks for real-time blink and eye closure detection.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Dinges &amp; Grace (1998) [R2]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Established PERCLOS (Percentage of Eye Closure &gt;= 80% over time window) as the gold standard fatigue metric.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Garces et al. (2021) [R5]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Formulated Mouth Aspect Ratio (MAR) to quantify yawning magnitude and duration.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Dzyakanchuk et al. (2022) [R3]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Evaluated low-power CNN face detection on Raspberry Pi embedded hardware.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Research Gap Addressed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Existing literature lacks sub-5ms INT8 quantized multi-metric landmark pipelines with NIR robustness on sub-$100 edge hardware.</a:t>
            </a:r>
            <a:endParaRPr sz="2500"/>
          </a:p>
        </p:txBody>
      </p:sp>
      <p:sp>
        <p:nvSpPr>
          <p:cNvPr id="134" name="Google Shape;134;p18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Literature Review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5" name="Google Shape;135;p1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6</a:t>
            </a:fld>
            <a:endParaRPr/>
          </a:p>
        </p:txBody>
      </p:sp>
      <p:sp>
        <p:nvSpPr>
          <p:cNvPr id="136" name="Google Shape;136;p18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7f9a4c8fa777841d_0_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Research Gap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8" name="Google Shape;148;h7f9a4c8fa777841d_0_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7</a:t>
            </a:fld>
            <a:endParaRPr/>
          </a:p>
        </p:txBody>
      </p:sp>
      <p:sp>
        <p:nvSpPr>
          <p:cNvPr id="149" name="Google Shape;149;h7f9a4c8fa777841d_0_15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h7f9a4c8fa777841d_0_15"/>
          <p:cNvSpPr txBox="1">
            <a:spLocks noGrp="1"/>
          </p:cNvSpPr>
          <p:nvPr>
            <p:ph type="body" idx="1"/>
          </p:nvPr>
        </p:nvSpPr>
        <p:spPr>
          <a:xfrm>
            <a:off x="149629" y="1417638"/>
            <a:ext cx="11853949" cy="4794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IN" sz="2200" b="1" dirty="0"/>
              <a:t>Single-Metric Blind Spot</a:t>
            </a:r>
            <a:r>
              <a:rPr lang="en-IN" sz="2200" dirty="0"/>
              <a:t>: Most cited work (Soukupová EAR, Garces MAR) validates one signal in isolation, without fusing eye, mouth, and head-pose channels into one real-time classifier.</a:t>
            </a:r>
          </a:p>
          <a:p>
            <a:r>
              <a:rPr lang="en-IN" sz="2200" b="1" dirty="0"/>
              <a:t>No Edge-Optimized Multi-Metric Pipeline</a:t>
            </a:r>
            <a:r>
              <a:rPr lang="en-IN" sz="2200" dirty="0"/>
              <a:t>: PERCLOS and CNN-based approaches are validated on desktop/GPU hardware; none combine INT8-quantized, sub-5ms inference with a 9D multi-signal feature vector on sub-$100 hardware.</a:t>
            </a:r>
          </a:p>
          <a:p>
            <a:r>
              <a:rPr lang="en-IN" sz="2200" b="1" dirty="0"/>
              <a:t>Limited NIR / Occlusion Robustness</a:t>
            </a:r>
            <a:r>
              <a:rPr lang="en-IN" sz="2200" dirty="0"/>
              <a:t>: Reviewed literature (</a:t>
            </a:r>
            <a:r>
              <a:rPr lang="en-IN" sz="2200" dirty="0" err="1"/>
              <a:t>Dzyakanchuk</a:t>
            </a:r>
            <a:r>
              <a:rPr lang="en-IN" sz="2200" dirty="0"/>
              <a:t>, </a:t>
            </a:r>
            <a:r>
              <a:rPr lang="en-IN" sz="2200" dirty="0" err="1"/>
              <a:t>Acharjee</a:t>
            </a:r>
            <a:r>
              <a:rPr lang="en-IN" sz="2200" dirty="0"/>
              <a:t>) targets visible-light daytime conditions; night driving and sunglasses occlusion are largely unaddressed together.</a:t>
            </a:r>
          </a:p>
          <a:p>
            <a:r>
              <a:rPr lang="en-IN" sz="2200" b="1" dirty="0"/>
              <a:t>No Personalized Calibration in Embedded Studies</a:t>
            </a:r>
            <a:r>
              <a:rPr lang="en-IN" sz="2200" dirty="0"/>
              <a:t>: Existing embedded DMS work uses fixed EAR/MAR thresholds, ignoring individual eye-shape variation (e.g., </a:t>
            </a:r>
            <a:r>
              <a:rPr lang="en-IN" sz="2200" dirty="0" err="1"/>
              <a:t>monolids</a:t>
            </a:r>
            <a:r>
              <a:rPr lang="en-IN" sz="2200" dirty="0"/>
              <a:t>) that causes false alarms.</a:t>
            </a:r>
          </a:p>
          <a:p>
            <a:r>
              <a:rPr lang="en-IN" sz="2200" b="1" dirty="0"/>
              <a:t>Gap ALERT Addresses</a:t>
            </a:r>
            <a:r>
              <a:rPr lang="en-IN" sz="2200" dirty="0"/>
              <a:t>: A per-driver-calibrated, multi-metric (eye + mouth + head-pose), edge-deployable pipeline validated across lighting and eyewear conditions not demonstrated as one system in current literature.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Objectives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2" name="Google Shape;142;p19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7350" algn="l" rtl="0">
              <a:spcBef>
                <a:spcPts val="360"/>
              </a:spcBef>
              <a:spcAft>
                <a:spcPts val="0"/>
              </a:spcAft>
              <a:buSzPts val="2500"/>
              <a:buFont typeface="Cambria"/>
              <a:buChar char="•"/>
            </a:pPr>
            <a:r>
              <a:rPr lang="en-IN" sz="2500">
                <a:highlight>
                  <a:schemeClr val="lt1"/>
                </a:highlight>
                <a:latin typeface="Cambria"/>
                <a:ea typeface="Cambria"/>
                <a:cs typeface="Cambria"/>
                <a:sym typeface="Cambria"/>
              </a:rPr>
              <a:t>To prevent fatal road accidents and save lives by detecting driver fatigue and micro-sleeps in real time before loss of vehicle control occurs.</a:t>
            </a:r>
            <a:endParaRPr sz="2500">
              <a:highlight>
                <a:schemeClr val="lt1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87350" algn="l" rtl="0">
              <a:spcBef>
                <a:spcPts val="360"/>
              </a:spcBef>
              <a:spcAft>
                <a:spcPts val="0"/>
              </a:spcAft>
              <a:buSzPts val="2500"/>
              <a:buFont typeface="Cambria"/>
              <a:buChar char="•"/>
            </a:pPr>
            <a:r>
              <a:rPr lang="en-IN" sz="2500">
                <a:highlight>
                  <a:schemeClr val="lt1"/>
                </a:highlight>
                <a:latin typeface="Cambria"/>
                <a:ea typeface="Cambria"/>
                <a:cs typeface="Cambria"/>
                <a:sym typeface="Cambria"/>
              </a:rPr>
              <a:t>To develop a completely non-intrusive safety system that monitors driver alertness using standard camera vision without requiring wearable sensors or manual driver setup.</a:t>
            </a:r>
            <a:endParaRPr sz="2500">
              <a:highlight>
                <a:schemeClr val="lt1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87350" algn="l" rtl="0">
              <a:spcBef>
                <a:spcPts val="360"/>
              </a:spcBef>
              <a:spcAft>
                <a:spcPts val="0"/>
              </a:spcAft>
              <a:buSzPts val="2500"/>
              <a:buFont typeface="Cambria"/>
              <a:buChar char="•"/>
            </a:pPr>
            <a:r>
              <a:rPr lang="en-IN" sz="2500">
                <a:highlight>
                  <a:schemeClr val="lt1"/>
                </a:highlight>
                <a:latin typeface="Cambria"/>
                <a:ea typeface="Cambria"/>
                <a:cs typeface="Cambria"/>
                <a:sym typeface="Cambria"/>
              </a:rPr>
              <a:t>To ensure 100 percent offline and privacy-preserving operation, enabling reliable fatigue monitoring on highways and tunnels without relying on cellular networks or cloud infrastructure.</a:t>
            </a:r>
            <a:endParaRPr sz="2500">
              <a:highlight>
                <a:schemeClr val="lt1"/>
              </a:highlight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87350" algn="l" rtl="0">
              <a:spcBef>
                <a:spcPts val="360"/>
              </a:spcBef>
              <a:spcAft>
                <a:spcPts val="0"/>
              </a:spcAft>
              <a:buSzPts val="2500"/>
              <a:buFont typeface="Cambria"/>
              <a:buChar char="•"/>
            </a:pPr>
            <a:r>
              <a:rPr lang="en-IN" sz="2500">
                <a:highlight>
                  <a:schemeClr val="lt1"/>
                </a:highlight>
                <a:latin typeface="Cambria"/>
                <a:ea typeface="Cambria"/>
                <a:cs typeface="Cambria"/>
                <a:sym typeface="Cambria"/>
              </a:rPr>
              <a:t>To build an affordable, edge-deployable solution that can be easily integrated into commercial trucking fleets, public transport, and consumer vehicles.</a:t>
            </a:r>
            <a:endParaRPr sz="2500">
              <a:highlight>
                <a:schemeClr val="lt1"/>
              </a:highligh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3" name="Google Shape;143;p1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8</a:t>
            </a:fld>
            <a:endParaRPr/>
          </a:p>
        </p:txBody>
      </p:sp>
      <p:sp>
        <p:nvSpPr>
          <p:cNvPr id="144" name="Google Shape;144;p19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0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Hardware Platforms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Raspberry Pi 5 , Google Coral USB Edge TPU ($60), Hailo-8L 13 TOPS HAT, NVIDIA Jetson Orin Nano.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Optical Hardware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Near-Infrared (NIR) 850nm/940nm LED arrays, narrow bandpass optical filters, No-IR-Cut camera sensor.</a:t>
            </a:r>
            <a:endParaRPr sz="2500"/>
          </a:p>
          <a:p>
            <a:pPr marL="45720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Programming Runtimes: Python 3.10+ &amp; C++17 for high-performance multithreaded frame ingestion and inference.</a:t>
            </a:r>
            <a:endParaRPr sz="2500"/>
          </a:p>
          <a:p>
            <a:pPr marL="457200" lvl="0" indent="-298450" algn="l" rtl="0">
              <a:spcBef>
                <a:spcPts val="360"/>
              </a:spcBef>
              <a:spcAft>
                <a:spcPts val="0"/>
              </a:spcAft>
              <a:buSzPts val="1100"/>
              <a:buChar char="•"/>
            </a:pPr>
            <a:r>
              <a:rPr lang="en-IN" sz="2500" b="1">
                <a:latin typeface="Cambria"/>
                <a:ea typeface="Cambria"/>
                <a:cs typeface="Cambria"/>
                <a:sym typeface="Cambria"/>
              </a:rPr>
              <a:t>Landmark Extraction</a:t>
            </a:r>
            <a:r>
              <a:rPr lang="en-IN" sz="2500">
                <a:latin typeface="Cambria"/>
                <a:ea typeface="Cambria"/>
                <a:cs typeface="Cambria"/>
                <a:sym typeface="Cambria"/>
              </a:rPr>
              <a:t>: MediaPipe FaceLandmarker Tasks API — 468 3D landmarks, 6.7MB TFLite model, ~8–15ms inference via XNNPACK CPU delegate, LIVE\_STREAM async mode at 640×480.</a:t>
            </a:r>
            <a:endParaRPr sz="25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p2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Required Tools and Technology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1" name="Google Shape;151;p2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9</a:t>
            </a:fld>
            <a:endParaRPr/>
          </a:p>
        </p:txBody>
      </p:sp>
      <p:sp>
        <p:nvSpPr>
          <p:cNvPr id="152" name="Google Shape;152;p20"/>
          <p:cNvSpPr txBox="1"/>
          <p:nvPr/>
        </p:nvSpPr>
        <p:spPr>
          <a:xfrm>
            <a:off x="3454400" y="6211669"/>
            <a:ext cx="6096000" cy="6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Computer Vision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OpenCV 4.8+ — camera I/O (MJPG codec, 30 FPS), solvePnP head pose, eye/mouth ROI cropping, HUD rendering.</a:t>
            </a:r>
            <a:endParaRPr sz="21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Classical ML (Model A)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LightGBM 4.0+ — gradient boosted trees on 9D feature vector; scikit-learn for preprocessing pipelines and Random Forest POC baseline.</a:t>
            </a:r>
            <a:endParaRPr sz="21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Deep Learning (Models B &amp; C)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PyTorch 2.1+ — GRU sequence model (Model B) and CNN eye-patch classifier (Model C); ONNX Runtime 1.16+ for cross-platform edge serving.</a:t>
            </a:r>
            <a:endParaRPr sz="21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Feature Engineering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NumPy (rolling window arrays, EAR/MAR geometry), SciPy (EMA drift adaptation), imbalanced-learn (SMOTE for L3 class imbalance).</a:t>
            </a:r>
            <a:endParaRPr sz="21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Data Processing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Pandas (dataset loading, label alignment across UTA-RLDD / NTHU-DDD / YawDD / MRL Eye), OpenCV VideoCapture (frame extraction from video datasets).</a:t>
            </a:r>
            <a:endParaRPr sz="21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Dev Environment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Python 3.11 in virtualenv, VS Code, Git — all inference ONNX-exportable and forward-compatible with OpenVINO (Intel NPU) and TensorRT INT8 (Jetson).</a:t>
            </a:r>
            <a:endParaRPr sz="2100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8" name="Google Shape;158;p2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Required Tools and Technology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9" name="Google Shape;159;p2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10</a:t>
            </a:fld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2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UTA-RLDD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60 subjects, ~30 min per subject, ~6.4M total frames, 95 GB. Naturalistic webcam recordings in home/office environments. Labels: Alert, Low Vigilance, Drowsy (maps to L0, L1, L2). Primary training set.</a:t>
            </a:r>
            <a:endParaRPr sz="21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NTHU-DDD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36 subjects, ~14 GB. Recorded under 4 conditions: day/night crossed with glasses/no glasses. Frame-level binary labels: Drowsy or Non-Drowsy. Added specifically for glasses occlusion and low-light robustness.</a:t>
            </a:r>
            <a:endParaRPr sz="21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YawDD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107 subjects, ~8 GB. Dual-camera in-vehicle recording from an actual dashcam mounted below eye level inside a car. Labels: Normal, Talking, Yawning. Added to train the model on the real dashcam perspective that desk-webcam datasets cannot provide.</a:t>
            </a:r>
            <a:endParaRPr sz="21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273050" algn="l" rtl="0">
              <a:spcBef>
                <a:spcPts val="360"/>
              </a:spcBef>
              <a:spcAft>
                <a:spcPts val="0"/>
              </a:spcAft>
              <a:buSzPts val="700"/>
              <a:buChar char="•"/>
            </a:pPr>
            <a:r>
              <a:rPr lang="en-IN" sz="2100" b="1">
                <a:latin typeface="Cambria"/>
                <a:ea typeface="Cambria"/>
                <a:cs typeface="Cambria"/>
                <a:sym typeface="Cambria"/>
              </a:rPr>
              <a:t>MRL Eye Dataset</a:t>
            </a:r>
            <a:r>
              <a:rPr lang="en-IN" sz="2100">
                <a:latin typeface="Cambria"/>
                <a:ea typeface="Cambria"/>
                <a:cs typeface="Cambria"/>
                <a:sym typeface="Cambria"/>
              </a:rPr>
              <a:t>: 37 subjects, 84,898 labelled eye images, ~2 GB. Covers 8 image scales, varied lighting including infrared, with and without glasses. Binary labels: open or closed per image. Used exclusively to train Model C, the CNN eye-patch classifier.</a:t>
            </a:r>
            <a:endParaRPr sz="21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p2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Required Tools and Technology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7" name="Google Shape;167;p2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11</a:t>
            </a:fld>
            <a:endParaRPr/>
          </a:p>
        </p:txBody>
      </p:sp>
      <p:sp>
        <p:nvSpPr>
          <p:cNvPr id="168" name="Google Shape;168;p22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COMPUTER ENGINEERING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3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Method/ Approach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4" name="Google Shape;174;p23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74650" algn="l" rtl="0"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IN" sz="2300" b="1">
                <a:latin typeface="Cambria"/>
                <a:ea typeface="Cambria"/>
                <a:cs typeface="Cambria"/>
                <a:sym typeface="Cambria"/>
              </a:rPr>
              <a:t>Stage 1</a:t>
            </a:r>
            <a:r>
              <a:rPr lang="en-IN" sz="2300">
                <a:latin typeface="Cambria"/>
                <a:ea typeface="Cambria"/>
                <a:cs typeface="Cambria"/>
                <a:sym typeface="Cambria"/>
              </a:rPr>
              <a:t> - Face and Landmark Extraction: Each 640x480 frame is passed to MediaPipe FaceLandmarker, yielding 468 3D landmark coordinates. 24 anatomically selected points are extracted: 6 per eye for EAR, 8 mouth contour for MAR, and 6 solvePnP anchors (nose tip, chin, eye corners, mouth corners).</a:t>
            </a:r>
            <a:endParaRPr sz="23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74650" algn="l" rtl="0"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IN" sz="2300" b="1">
                <a:latin typeface="Cambria"/>
                <a:ea typeface="Cambria"/>
                <a:cs typeface="Cambria"/>
                <a:sym typeface="Cambria"/>
              </a:rPr>
              <a:t>Stage 2</a:t>
            </a:r>
            <a:r>
              <a:rPr lang="en-IN" sz="2300">
                <a:latin typeface="Cambria"/>
                <a:ea typeface="Cambria"/>
                <a:cs typeface="Cambria"/>
                <a:sym typeface="Cambria"/>
              </a:rPr>
              <a:t> - Geometric Feature Computation: Instantaneous EAR, MAR, and MOE are computed per frame. solvePnP maps the 6 anchor landmarks to a canonical 3D face model to extract Yaw, Pitch, and Roll. EAR is corrected for head-turn foreshortening using the yaw angle.</a:t>
            </a:r>
            <a:endParaRPr sz="23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74650" algn="l" rtl="0"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IN" sz="2300" b="1">
                <a:latin typeface="Cambria"/>
                <a:ea typeface="Cambria"/>
                <a:cs typeface="Cambria"/>
                <a:sym typeface="Cambria"/>
              </a:rPr>
              <a:t>Stage 3</a:t>
            </a:r>
            <a:r>
              <a:rPr lang="en-IN" sz="2300">
                <a:latin typeface="Cambria"/>
                <a:ea typeface="Cambria"/>
                <a:cs typeface="Cambria"/>
                <a:sym typeface="Cambria"/>
              </a:rPr>
              <a:t> - Personalised Calibration (Session Start, 10s): 300 frames of the alert driver are collected at session start. Per-driver EAR and MAR thresholds are computed from mean and standard deviation, eliminating false alarms from natural anatomical variation such as narrow eye shapes.</a:t>
            </a:r>
            <a:endParaRPr sz="2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5" name="Google Shape;175;p2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12</a:t>
            </a:fld>
            <a:endParaRPr/>
          </a:p>
        </p:txBody>
      </p:sp>
      <p:sp>
        <p:nvSpPr>
          <p:cNvPr id="176" name="Google Shape;176;p23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4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55600" algn="l" rtl="0"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lang="en-IN" sz="2000" b="1">
                <a:latin typeface="Cambria"/>
                <a:ea typeface="Cambria"/>
                <a:cs typeface="Cambria"/>
                <a:sym typeface="Cambria"/>
              </a:rPr>
              <a:t>Stage 4</a:t>
            </a:r>
            <a:r>
              <a:rPr lang="en-IN" sz="2000">
                <a:latin typeface="Cambria"/>
                <a:ea typeface="Cambria"/>
                <a:cs typeface="Cambria"/>
                <a:sym typeface="Cambria"/>
              </a:rPr>
              <a:t> - Temporal Feature Engineering: A 9-dimensional feature vector (EAR, EAR std dev, PERCLOS, Blink Rate, Blink Duration, MAR, Yawn Count, Head Pitch, MOE) is assembled using 5-second short-term and 60-second long-term rolling windows. A slow exponential moving average continuously adapts the baseline for lighting drift over long drives.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55600" algn="l" rtl="0"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lang="en-IN" sz="2000" b="1">
                <a:latin typeface="Cambria"/>
                <a:ea typeface="Cambria"/>
                <a:cs typeface="Cambria"/>
                <a:sym typeface="Cambria"/>
              </a:rPr>
              <a:t>Stage 5</a:t>
            </a:r>
            <a:r>
              <a:rPr lang="en-IN" sz="2000">
                <a:latin typeface="Cambria"/>
                <a:ea typeface="Cambria"/>
                <a:cs typeface="Cambria"/>
                <a:sym typeface="Cambria"/>
              </a:rPr>
              <a:t> - Ensemble Classification: Model A (LightGBM) classifies the 9D vector per frame with a weight of 0.50. Model B (GRU, 32 hidden units) classifies a 5-second sequence of 4 key features every 5 seconds, detecting gradual fatigue trends invisible to per-frame classifiers, with a weight of 0.30. Model C (tiny CNN) classifies a raw 32x16 pixel eye crop per frame, independent of landmark accuracy, providing redundancy under glasses or glare, with a weight of 0.20. The three probability outputs are fused via weighted soft vote to produce a final L0 to L3 prediction. A hard safety override forces L3 if severe eye closure is detected regardless of the fusion result.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55600" algn="l" rtl="0"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lang="en-IN" sz="2000" b="1">
                <a:latin typeface="Cambria"/>
                <a:ea typeface="Cambria"/>
                <a:cs typeface="Cambria"/>
                <a:sym typeface="Cambria"/>
              </a:rPr>
              <a:t>Stage 6</a:t>
            </a:r>
            <a:r>
              <a:rPr lang="en-IN" sz="2000">
                <a:latin typeface="Cambria"/>
                <a:ea typeface="Cambria"/>
                <a:cs typeface="Cambria"/>
                <a:sym typeface="Cambria"/>
              </a:rPr>
              <a:t> - Alert Output and HUD: Fatigue level drives tiered alerts (L1 amber chime, L2 repeated alarm, L3 critical alert). A 30 FPS overlay displays live fatigue level, per-model probabilities, all 9 signal values, and calibration status on the camera stream.</a:t>
            </a:r>
            <a:endParaRPr sz="2000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2" name="Google Shape;182;p2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Method/ Approach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3" name="Google Shape;183;p2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13</a:t>
            </a:fld>
            <a:endParaRPr/>
          </a:p>
        </p:txBody>
      </p:sp>
      <p:sp>
        <p:nvSpPr>
          <p:cNvPr id="184" name="Google Shape;184;p24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Methodology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4" name="Google Shape;174;p9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r>
              <a:rPr lang="en-IN" sz="2400" b="1" dirty="0"/>
              <a:t>Research Type</a:t>
            </a:r>
            <a:r>
              <a:rPr lang="en-IN" sz="2400" dirty="0"/>
              <a:t>: Applied, experimental, and computational — a working software pipeline validated through direct benchmarking, not purely theoretical analysis.</a:t>
            </a:r>
          </a:p>
          <a:p>
            <a:r>
              <a:rPr lang="en-IN" sz="2400" b="1" dirty="0"/>
              <a:t>Data Strategy</a:t>
            </a:r>
            <a:r>
              <a:rPr lang="en-IN" sz="2400" dirty="0"/>
              <a:t>: Combination of public benchmark datasets (UTA-RLDD, NTHU-DDD, </a:t>
            </a:r>
            <a:r>
              <a:rPr lang="en-IN" sz="2400" dirty="0" err="1"/>
              <a:t>YawDD</a:t>
            </a:r>
            <a:r>
              <a:rPr lang="en-IN" sz="2400" dirty="0"/>
              <a:t>, MRL Eye) for full-scale training, with a synthetic physiological feature generator (Wierwille-Ellsworth-based thresholds) used for rapid POC validation before real-dataset training.</a:t>
            </a:r>
          </a:p>
          <a:p>
            <a:r>
              <a:rPr lang="en-IN" sz="2400" b="1" dirty="0"/>
              <a:t>Validation Approach</a:t>
            </a:r>
            <a:r>
              <a:rPr lang="en-IN" sz="2400" dirty="0"/>
              <a:t>: Strict cross-subject train/test splits (no subject overlap) planned for the full model; POC stage validated on held-out synthetic samples.</a:t>
            </a:r>
          </a:p>
          <a:p>
            <a:r>
              <a:rPr lang="en-IN" sz="2400" b="1" dirty="0"/>
              <a:t>Computational Boundaries</a:t>
            </a:r>
            <a:r>
              <a:rPr lang="en-IN" sz="2400" dirty="0"/>
              <a:t>: All inference constrained to CPU/embedded-GPU edge hardware (no cloud API calls); models must be ONNX-exportable for Jetson/Raspberry Pi deployment.</a:t>
            </a:r>
          </a:p>
          <a:p>
            <a:r>
              <a:rPr lang="en-IN" sz="2400" b="1" dirty="0"/>
              <a:t>Evaluation Metrics</a:t>
            </a:r>
            <a:r>
              <a:rPr lang="en-IN" sz="2400" dirty="0"/>
              <a:t>: Precision, recall, and F1 per fatigue class (L0–L3), with emphasis on recall for L2/L3 (missed severe fatigue is the costliest error).</a:t>
            </a:r>
          </a:p>
        </p:txBody>
      </p:sp>
      <p:sp>
        <p:nvSpPr>
          <p:cNvPr id="176" name="Google Shape;176;p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14</a:t>
            </a:fld>
            <a:endParaRPr/>
          </a:p>
        </p:txBody>
      </p:sp>
      <p:sp>
        <p:nvSpPr>
          <p:cNvPr id="177" name="Google Shape;177;p9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7f9a4c8fa777841d_0_2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Result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3" name="Google Shape;183;h7f9a4c8fa777841d_0_24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r>
              <a:rPr lang="en-IN" b="1" dirty="0"/>
              <a:t>POC Classifier Performance</a:t>
            </a:r>
            <a:r>
              <a:rPr lang="en-IN" dirty="0"/>
              <a:t>: The Random Forest baseline (30 trees) achieves 100% precision/recall on the synthetic 9D benchmark feature matrix — confirming the feature engineering (EAR, PERCLOS, MAR, MOE, head pitch) cleanly separates the four fatigue classes.</a:t>
            </a:r>
          </a:p>
          <a:p>
            <a:r>
              <a:rPr lang="en-IN" b="1" dirty="0"/>
              <a:t>Real-Time Pipeline Validated</a:t>
            </a:r>
            <a:r>
              <a:rPr lang="en-IN" dirty="0"/>
              <a:t>: Live webcam HUD (orchestrator.py) successfully runs </a:t>
            </a:r>
            <a:r>
              <a:rPr lang="en-IN" dirty="0" err="1"/>
              <a:t>MediaPipe</a:t>
            </a:r>
            <a:r>
              <a:rPr lang="en-IN" dirty="0"/>
              <a:t> landmark extraction, 10-second calibration, and live L0–L3 classification with on-screen probability breakdown.</a:t>
            </a:r>
          </a:p>
          <a:p>
            <a:r>
              <a:rPr lang="en-IN" b="1" dirty="0"/>
              <a:t>Inference Speed</a:t>
            </a:r>
            <a:r>
              <a:rPr lang="en-IN" dirty="0"/>
              <a:t>: Classifier inference measured at sub-3ms per frame, consistent with edge-latency targets.</a:t>
            </a:r>
          </a:p>
          <a:p>
            <a:r>
              <a:rPr lang="en-IN" b="1" dirty="0"/>
              <a:t>Caveat to state honestly</a:t>
            </a:r>
            <a:r>
              <a:rPr lang="en-IN" dirty="0"/>
              <a:t>: These results are on synthetic/POC data, not yet the real-world benchmark datasets (UTA-RLDD, NTHU-DDD, </a:t>
            </a:r>
            <a:r>
              <a:rPr lang="en-IN" dirty="0" err="1"/>
              <a:t>YawDD</a:t>
            </a:r>
            <a:r>
              <a:rPr lang="en-IN" dirty="0"/>
              <a:t>, MRL Eye) — real-dataset evaluation is pending (see Future Work).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5" name="Google Shape;185;h7f9a4c8fa777841d_0_2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15</a:t>
            </a:fld>
            <a:endParaRPr/>
          </a:p>
        </p:txBody>
      </p:sp>
      <p:sp>
        <p:nvSpPr>
          <p:cNvPr id="186" name="Google Shape;186;h7f9a4c8fa777841d_0_24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h7f9a4c8fa777841d_0_3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Conclusion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2" name="Google Shape;192;h7f9a4c8fa777841d_0_32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r>
              <a:rPr lang="en-US" b="1" dirty="0"/>
              <a:t>ALERT </a:t>
            </a:r>
            <a:r>
              <a:rPr lang="en-US" dirty="0"/>
              <a:t>demonstrates that a fully offline, edge-deployable driver fatigue detection pipeline is technically feasible using </a:t>
            </a:r>
            <a:r>
              <a:rPr lang="en-US" dirty="0" err="1"/>
              <a:t>MediaPipe</a:t>
            </a:r>
            <a:r>
              <a:rPr lang="en-US" dirty="0"/>
              <a:t> landmarks and a compact multi-signal feature vector.</a:t>
            </a:r>
          </a:p>
          <a:p>
            <a:r>
              <a:rPr lang="en-US" dirty="0"/>
              <a:t>The POC validates the core hypothesis: geometric + temporal features (EAR, PERCLOS, MAR, head pose) are sufficient for a classical ML model to separate fatigue severity levels with high accuracy on controlled data.</a:t>
            </a:r>
          </a:p>
          <a:p>
            <a:r>
              <a:rPr lang="en-US" dirty="0"/>
              <a:t>The architecture is designed from the outset for sub-5ms, sub-$100 edge hardware, directly addressing the connectivity, latency, and privacy gaps of cloud-based DMS alternatives.</a:t>
            </a:r>
          </a:p>
          <a:p>
            <a:r>
              <a:rPr lang="en-US" b="1" dirty="0"/>
              <a:t>Current stage is Proof-of-Concept only</a:t>
            </a:r>
            <a:r>
              <a:rPr lang="en-US" dirty="0"/>
              <a:t>; production-grade accuracy claims require training and validation on real driver datasets, which is the immediate next step.</a:t>
            </a:r>
          </a:p>
        </p:txBody>
      </p:sp>
      <p:sp>
        <p:nvSpPr>
          <p:cNvPr id="194" name="Google Shape;194;h7f9a4c8fa777841d_0_3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16</a:t>
            </a:fld>
            <a:endParaRPr/>
          </a:p>
        </p:txBody>
      </p:sp>
      <p:sp>
        <p:nvSpPr>
          <p:cNvPr id="195" name="Google Shape;195;h7f9a4c8fa777841d_0_32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7f9a4c8fa777841d_0_4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Future Work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01" name="Google Shape;201;h7f9a4c8fa777841d_0_40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r>
              <a:rPr lang="en-IN" b="1" dirty="0"/>
              <a:t>Real-Dataset Training</a:t>
            </a:r>
            <a:r>
              <a:rPr lang="en-IN" dirty="0"/>
              <a:t>: Train and validate on UTA-RLDD, NTHU-DDD, </a:t>
            </a:r>
            <a:r>
              <a:rPr lang="en-IN" dirty="0" err="1"/>
              <a:t>YawDD</a:t>
            </a:r>
            <a:r>
              <a:rPr lang="en-IN" dirty="0"/>
              <a:t>, and MRL Eye datasets to replace/augment the synthetic POC data.</a:t>
            </a:r>
          </a:p>
          <a:p>
            <a:r>
              <a:rPr lang="en-IN" b="1" dirty="0"/>
              <a:t>Ensemble Model Completion</a:t>
            </a:r>
            <a:r>
              <a:rPr lang="en-IN" dirty="0"/>
              <a:t>: Implement and fuse the full 3-model architecture (</a:t>
            </a:r>
            <a:r>
              <a:rPr lang="en-IN" dirty="0" err="1"/>
              <a:t>LightGBM</a:t>
            </a:r>
            <a:r>
              <a:rPr lang="en-IN" dirty="0"/>
              <a:t> + GRU sequence model + CNN eye-patch classifier) described in the technical design, beyond the current single Random Forest.</a:t>
            </a:r>
          </a:p>
          <a:p>
            <a:r>
              <a:rPr lang="en-IN" b="1" dirty="0"/>
              <a:t>NIR Hardware Integration</a:t>
            </a:r>
            <a:r>
              <a:rPr lang="en-IN" dirty="0"/>
              <a:t>: Add 850/940nm near-infrared illumination and camera support for night-driving and eyewear-occlusion robustness.</a:t>
            </a:r>
          </a:p>
          <a:p>
            <a:r>
              <a:rPr lang="en-IN" b="1" dirty="0"/>
              <a:t>Edge Deployment &amp; Quantization</a:t>
            </a:r>
            <a:r>
              <a:rPr lang="en-IN" dirty="0"/>
              <a:t>: Port the pipeline to Raspberry Pi 5 / Jetson Orin Nano with INT8 quantization (</a:t>
            </a:r>
            <a:r>
              <a:rPr lang="en-IN" dirty="0" err="1"/>
              <a:t>TensorRT</a:t>
            </a:r>
            <a:r>
              <a:rPr lang="en-IN" dirty="0"/>
              <a:t>/</a:t>
            </a:r>
            <a:r>
              <a:rPr lang="en-IN" dirty="0" err="1"/>
              <a:t>OpenVINO</a:t>
            </a:r>
            <a:r>
              <a:rPr lang="en-IN" dirty="0"/>
              <a:t>) to hit the sub-5ms target on real hardware.</a:t>
            </a:r>
          </a:p>
          <a:p>
            <a:r>
              <a:rPr lang="en-IN" b="1" dirty="0"/>
              <a:t>Fleet &amp; Vehicle Integration</a:t>
            </a:r>
            <a:r>
              <a:rPr lang="en-IN" dirty="0"/>
              <a:t>: Add CAN bus / buzzer / seat-vibration output hooks for real vehicle deployment and pilot testing.</a:t>
            </a:r>
          </a:p>
        </p:txBody>
      </p:sp>
      <p:sp>
        <p:nvSpPr>
          <p:cNvPr id="203" name="Google Shape;203;h7f9a4c8fa777841d_0_4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17</a:t>
            </a:fld>
            <a:endParaRPr/>
          </a:p>
        </p:txBody>
      </p:sp>
      <p:sp>
        <p:nvSpPr>
          <p:cNvPr id="204" name="Google Shape;204;h7f9a4c8fa777841d_0_40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>
                <a:latin typeface="Cambria"/>
                <a:ea typeface="Cambria"/>
                <a:cs typeface="Cambria"/>
                <a:sym typeface="Cambria"/>
              </a:rPr>
              <a:t>Bibliography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p2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92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IN" sz="1900">
                <a:latin typeface="Cambria"/>
                <a:ea typeface="Cambria"/>
                <a:cs typeface="Cambria"/>
                <a:sym typeface="Cambria"/>
              </a:rPr>
              <a:t>[1] Soukupova, T., &amp; Cech, J. (2016). Real-Time Eye Blink Detection Using Facial Landmarks. Computer Vision Winter Workshop.</a:t>
            </a:r>
            <a:endParaRPr sz="1900"/>
          </a:p>
          <a:p>
            <a:pPr marL="457200" lvl="0" indent="-3492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IN" sz="1900">
                <a:latin typeface="Cambria"/>
                <a:ea typeface="Cambria"/>
                <a:cs typeface="Cambria"/>
                <a:sym typeface="Cambria"/>
              </a:rPr>
              <a:t>[2] Dinges, D. F., &amp; Grace, R. (1998). PERCLOS: A Valid Psychophysiological Measure of Alertness. US Dept of Transportation.</a:t>
            </a:r>
            <a:endParaRPr sz="1900"/>
          </a:p>
          <a:p>
            <a:pPr marL="457200" lvl="0" indent="-3492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IN" sz="1900">
                <a:latin typeface="Cambria"/>
                <a:ea typeface="Cambria"/>
                <a:cs typeface="Cambria"/>
                <a:sym typeface="Cambria"/>
              </a:rPr>
              <a:t>[3] Dzyakanchuk, A., et al. (2022). Low-Power Face Detection on Raspberry Pi for Automotive DMS. IEEE Access.</a:t>
            </a:r>
            <a:endParaRPr sz="1900"/>
          </a:p>
          <a:p>
            <a:pPr marL="457200" lvl="0" indent="-3492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IN" sz="1900">
                <a:latin typeface="Cambria"/>
                <a:ea typeface="Cambria"/>
                <a:cs typeface="Cambria"/>
                <a:sym typeface="Cambria"/>
              </a:rPr>
              <a:t>[4] Acharjee, S., et al. (2020). Edge-Based Driver Drowsiness Monitoring on Embedded Hardware. SN Computer Science.</a:t>
            </a:r>
            <a:endParaRPr sz="1900"/>
          </a:p>
          <a:p>
            <a:pPr marL="457200" lvl="0" indent="-3492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IN" sz="1900">
                <a:latin typeface="Cambria"/>
                <a:ea typeface="Cambria"/>
                <a:cs typeface="Cambria"/>
                <a:sym typeface="Cambria"/>
              </a:rPr>
              <a:t>[5] Garces, M., et al. (2021). Automated Yawn Detection Using Mouth Aspect Ratio. IEEE Sensors Journal.</a:t>
            </a:r>
            <a:endParaRPr sz="1900"/>
          </a:p>
          <a:p>
            <a:pPr marL="457200" lvl="0" indent="-3492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IN" sz="1900">
                <a:latin typeface="Cambria"/>
                <a:ea typeface="Cambria"/>
                <a:cs typeface="Cambria"/>
                <a:sym typeface="Cambria"/>
              </a:rPr>
              <a:t>[6] MediaPipe Face Mesh Topology (468 3D Landmarks). Google AI Edge Documentation (2023).</a:t>
            </a:r>
            <a:endParaRPr sz="1900"/>
          </a:p>
          <a:p>
            <a:pPr marL="457200" lvl="0" indent="-3492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IN" sz="1900">
                <a:latin typeface="Cambria"/>
                <a:ea typeface="Cambria"/>
                <a:cs typeface="Cambria"/>
                <a:sym typeface="Cambria"/>
              </a:rPr>
              <a:t>[7] NVIDIA TensorRT INT8 Developer Guide for Jetson Orin Platform (2024).</a:t>
            </a:r>
            <a:endParaRPr sz="1900"/>
          </a:p>
          <a:p>
            <a:pPr marL="457200" lvl="0" indent="-3492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IN" sz="1900">
                <a:latin typeface="Cambria"/>
                <a:ea typeface="Cambria"/>
                <a:cs typeface="Cambria"/>
                <a:sym typeface="Cambria"/>
              </a:rPr>
              <a:t>[8] Hailo-8L Dataflow Compiler &amp; Software Suite User Guide (2024).</a:t>
            </a:r>
            <a:endParaRPr sz="1900"/>
          </a:p>
        </p:txBody>
      </p:sp>
      <p:sp>
        <p:nvSpPr>
          <p:cNvPr id="191" name="Google Shape;191;p2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IN"/>
              <a:t>18</a:t>
            </a:fld>
            <a:endParaRPr/>
          </a:p>
        </p:txBody>
      </p:sp>
      <p:sp>
        <p:nvSpPr>
          <p:cNvPr id="192" name="Google Shape;192;p25"/>
          <p:cNvSpPr txBox="1"/>
          <p:nvPr/>
        </p:nvSpPr>
        <p:spPr>
          <a:xfrm>
            <a:off x="3454400" y="6211669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COMPUTER ENGINEERING </a:t>
            </a: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*Proprietary material of SILVER OAK UNIVERSITY</a:t>
            </a:r>
            <a:endParaRPr sz="1800" b="0" i="0" u="none" strike="noStrike" cap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2618</Words>
  <Application>Microsoft Office PowerPoint</Application>
  <PresentationFormat>Widescreen</PresentationFormat>
  <Paragraphs>161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Times New Roman</vt:lpstr>
      <vt:lpstr>Office Theme</vt:lpstr>
      <vt:lpstr>PowerPoint Presentation</vt:lpstr>
      <vt:lpstr>Index</vt:lpstr>
      <vt:lpstr>Introduction</vt:lpstr>
      <vt:lpstr>Background and Motivation</vt:lpstr>
      <vt:lpstr>Relevance and Importance</vt:lpstr>
      <vt:lpstr>Literature Review</vt:lpstr>
      <vt:lpstr>Research Gap</vt:lpstr>
      <vt:lpstr>Objectives</vt:lpstr>
      <vt:lpstr>Required Tools and Technology</vt:lpstr>
      <vt:lpstr>Required Tools and Technology</vt:lpstr>
      <vt:lpstr>Required Tools and Technology</vt:lpstr>
      <vt:lpstr>Method/ Approach</vt:lpstr>
      <vt:lpstr>Method/ Approach</vt:lpstr>
      <vt:lpstr>Methodology</vt:lpstr>
      <vt:lpstr>Result</vt:lpstr>
      <vt:lpstr>Conclusion</vt:lpstr>
      <vt:lpstr>Future Work</vt:lpstr>
      <vt:lpstr>Bibliography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kavya</dc:creator>
  <cp:lastModifiedBy>kavya kothari</cp:lastModifiedBy>
  <cp:revision>2</cp:revision>
  <dcterms:modified xsi:type="dcterms:W3CDTF">2026-09-24T21:56:27Z</dcterms:modified>
</cp:coreProperties>
</file>