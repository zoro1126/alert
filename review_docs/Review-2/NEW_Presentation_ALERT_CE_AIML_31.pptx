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9" r:id="rId9"/>
    <p:sldId id="275" r:id="rId10"/>
    <p:sldId id="262" r:id="rId11"/>
    <p:sldId id="263" r:id="rId12"/>
    <p:sldId id="264" r:id="rId13"/>
    <p:sldId id="265" r:id="rId14"/>
    <p:sldId id="276" r:id="rId15"/>
    <p:sldId id="270" r:id="rId16"/>
    <p:sldId id="271" r:id="rId17"/>
    <p:sldId id="272" r:id="rId18"/>
    <p:sldId id="273" r:id="rId19"/>
    <p:sldId id="268" r:id="rId20"/>
    <p:sldId id="27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7EDC67-28D4-409D-A043-197229C30CE6}">
  <a:tblStyle styleId="{407EDC67-28D4-409D-A043-197229C30CE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06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5" name="Google Shape;1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3" name="Google Shape;1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7f9a4c8fa777841d_0_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h7f9a4c8fa777841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6de3e5e92_0_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g3f6de3e5e92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6de3e5e92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5" name="Google Shape;155;g3f6de3e5e9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6de3e5e92_0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3f6de3e5e92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7f9a4c8fa777841d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0" name="Google Shape;180;h7f9a4c8fa777841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7f9a4c8fa777841d_0_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9" name="Google Shape;189;h7f9a4c8fa777841d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h7f9a4c8fa777841d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h7f9a4c8fa777841d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226037" y="0"/>
            <a:ext cx="1965963" cy="5689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8" name="Google Shape;28;p3" title="SOU_LOGO_new-removebg (1) (9)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815721" y="0"/>
            <a:ext cx="2376274" cy="51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91217" y="0"/>
            <a:ext cx="2066929" cy="598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2" name="Google Shape;52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2907" y="1"/>
            <a:ext cx="2137230" cy="618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9" name="Google Shape;69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020764" y="0"/>
            <a:ext cx="2139373" cy="619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 r="2610"/>
          <a:stretch/>
        </p:blipFill>
        <p:spPr>
          <a:xfrm>
            <a:off x="-6199" y="-1"/>
            <a:ext cx="12192001" cy="57393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/>
          <p:nvPr/>
        </p:nvSpPr>
        <p:spPr>
          <a:xfrm>
            <a:off x="-18600" y="3875476"/>
            <a:ext cx="12204300" cy="2982600"/>
          </a:xfrm>
          <a:prstGeom prst="rect">
            <a:avLst/>
          </a:prstGeom>
          <a:solidFill>
            <a:srgbClr val="95373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endParaRPr sz="3600" b="1" i="0" u="none" strike="noStrike" cap="non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5" name="Google Shape;95;p13" title="SOU_LOGO_new-removebg (1) (9)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98992" y="0"/>
            <a:ext cx="3292999" cy="712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" name="Google Shape;96;p13"/>
          <p:cNvGraphicFramePr/>
          <p:nvPr/>
        </p:nvGraphicFramePr>
        <p:xfrm>
          <a:off x="1041575" y="4066800"/>
          <a:ext cx="10019325" cy="2666850"/>
        </p:xfrm>
        <a:graphic>
          <a:graphicData uri="http://schemas.openxmlformats.org/drawingml/2006/table">
            <a:tbl>
              <a:tblPr>
                <a:noFill/>
                <a:tableStyleId>{407EDC67-28D4-409D-A043-197229C30CE6}</a:tableStyleId>
              </a:tblPr>
              <a:tblGrid>
                <a:gridCol w="407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4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Project ID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CE_AIML_31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Enrollment No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2301030600043, 2301030600045, 2301030600049</a:t>
                      </a:r>
                      <a:endParaRPr sz="1800" b="1" u="none" strike="noStrike" cap="non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Prem Deshani, Kavya Kothari, Mehulsinh Rathod</a:t>
                      </a:r>
                      <a:endParaRPr sz="2000" b="1" u="none" strike="noStrike" cap="non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Branch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BTech. CE-AIML</a:t>
                      </a:r>
                      <a:endParaRPr sz="2000" b="1">
                        <a:solidFill>
                          <a:srgbClr val="FFFFFF"/>
                        </a:solidFill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300"/>
                        <a:buFont typeface="Arial"/>
                        <a:buNone/>
                      </a:pPr>
                      <a:r>
                        <a:rPr lang="en-IN" sz="2300" b="1" u="none" strike="noStrike" cap="none">
                          <a:solidFill>
                            <a:schemeClr val="lt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Guide Name</a:t>
                      </a:r>
                      <a:endParaRPr sz="2300" b="1" u="none" strike="noStrike" cap="none">
                        <a:solidFill>
                          <a:schemeClr val="lt1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000" b="1">
                          <a:solidFill>
                            <a:srgbClr val="FFFFFF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Ms Vishwa Patel</a:t>
                      </a:r>
                      <a:endParaRPr sz="2000" b="1" u="none" strike="noStrike" cap="none">
                        <a:solidFill>
                          <a:srgbClr val="FFFFFF"/>
                        </a:solidFill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" name="Google Shape;97;p13"/>
          <p:cNvSpPr txBox="1"/>
          <p:nvPr/>
        </p:nvSpPr>
        <p:spPr>
          <a:xfrm>
            <a:off x="805796" y="822153"/>
            <a:ext cx="105804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5400" b="1" i="0" u="none" strike="noStrike" cap="none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Minor Project</a:t>
            </a:r>
            <a:endParaRPr sz="5400" b="1" i="0" u="none" strike="noStrike" cap="none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5400" b="1" i="0" u="none" strike="noStrike" cap="none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1010063491</a:t>
            </a:r>
            <a:endParaRPr sz="5400" b="1" i="0" u="none" strike="noStrike" cap="none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IN" sz="5400" b="1" dirty="0">
                <a:solidFill>
                  <a:srgbClr val="6324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A.L.E.R.T.</a:t>
            </a:r>
            <a:endParaRPr sz="5400" b="1" i="0" u="none" strike="noStrike" cap="none" dirty="0">
              <a:solidFill>
                <a:srgbClr val="63242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>
            <a:spLocks noGrp="1"/>
          </p:cNvSpPr>
          <p:nvPr>
            <p:ph type="title"/>
          </p:nvPr>
        </p:nvSpPr>
        <p:spPr>
          <a:xfrm>
            <a:off x="609600" y="227014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Index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3" name="Google Shape;103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Literature review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Research Gap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Required Dataset, Tools and Technology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Methodology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Result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Conclusion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Future Work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  <a:p>
            <a:pPr marL="342900">
              <a:spcBef>
                <a:spcPts val="640"/>
              </a:spcBef>
              <a:buSzPts val="3200"/>
              <a:buFont typeface="Cambria"/>
              <a:buChar char="•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References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>
            <a:spLocks noGrp="1"/>
          </p:cNvSpPr>
          <p:nvPr>
            <p:ph type="body" idx="1"/>
          </p:nvPr>
        </p:nvSpPr>
        <p:spPr>
          <a:xfrm>
            <a:off x="609600" y="1574526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Automotive Safety Crisis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Driver fatigue causes over 20% of commercial vehicle crashes worldwide, making real-time Driver Monitoring Systems (DMS) essential.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Facial </a:t>
            </a:r>
            <a:r>
              <a:rPr lang="en-IN" sz="2400" b="1" dirty="0" err="1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Behavioral</a:t>
            </a: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Analysis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Uses non-invasive computer vision to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analyze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eye openness (EAR), yawning (MAR), PERCLOS, and head pose angles.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The Non-IoT Edge Approach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Executes 100% on-device AI inference directly on embedded hardware (Raspberry Pi 5 / NVIDIA Jetson Orin Nano).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Key Technical Advantages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Delivers sub-5ms latency, complete offline reliability, zero cellular bandwidth cost ($0/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mo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), and total data privacy (GDPR compliance).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609600" y="281656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Introduction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1" name="Google Shape;111;p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2" name="Google Shape;112;p15">
            <a:extLst>
              <a:ext uri="{FF2B5EF4-FFF2-40B4-BE49-F238E27FC236}">
                <a16:creationId xmlns:a16="http://schemas.microsoft.com/office/drawing/2014/main" id="{6CFD4987-992C-76C8-2F33-8BC84959A514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>
            <a:spLocks noGrp="1"/>
          </p:cNvSpPr>
          <p:nvPr>
            <p:ph type="title"/>
          </p:nvPr>
        </p:nvSpPr>
        <p:spPr>
          <a:xfrm>
            <a:off x="609600" y="22715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Background and Motivation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609600" y="164509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Flaws of Cloud/IoT Architectures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Cloud-dependent systems suffer from network latency jitter (150ms–500ms+), rendering micro-sleep alerts ineffective.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Connectivity Dead Zones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Vehicles frequently navigate tunnels, mountain passes, and rural highways where 4G/5G cellular signal is lost.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Biometric Privacy Liabilities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Transmitting high-definition facial video streams to cloud servers poses severe GDPR and biometric privacy risks.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High Operating Expense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Cloud video streaming costs $15–$30/month per vehicle in cellular data and cloud server compute fees.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0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Edge Motivation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An autonomous, sub-5ms on-device system guarantees 100% alert reliability anywhere without recurring costs.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9" name="Google Shape;119;p1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4" name="Google Shape;112;p15">
            <a:extLst>
              <a:ext uri="{FF2B5EF4-FFF2-40B4-BE49-F238E27FC236}">
                <a16:creationId xmlns:a16="http://schemas.microsoft.com/office/drawing/2014/main" id="{C25AB177-51AE-8DFF-261B-CBBD2BFEB9B9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7"/>
          <p:cNvSpPr txBox="1">
            <a:spLocks noGrp="1"/>
          </p:cNvSpPr>
          <p:nvPr>
            <p:ph type="title"/>
          </p:nvPr>
        </p:nvSpPr>
        <p:spPr>
          <a:xfrm>
            <a:off x="609700" y="24296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6" name="Google Shape;126;p17"/>
          <p:cNvSpPr txBox="1">
            <a:spLocks noGrp="1"/>
          </p:cNvSpPr>
          <p:nvPr>
            <p:ph type="body" idx="1"/>
          </p:nvPr>
        </p:nvSpPr>
        <p:spPr>
          <a:xfrm>
            <a:off x="343592" y="1322360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Sub-5ms Compression Pipeline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Combines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MediaPipe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BlazeFace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+ Face Mesh backbones with Quantization-Aware Training (QAT INT8) for sub-5ms inference.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24/7 NIR Lighting Robustness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Implements 850nm / 940nm Near-Infrared illumination with adaptive CLAHE contrast enhancement for day &amp; night operation.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Eyewear &amp; Sunglasses Robustness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Features dual-wavelength NIR penetration and dynamic fallback to Mouth Aspect Ratio (MAR) + Head Nodding when eyes are occluded.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7" name="Google Shape;127;p1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3" name="Google Shape;112;p15">
            <a:extLst>
              <a:ext uri="{FF2B5EF4-FFF2-40B4-BE49-F238E27FC236}">
                <a16:creationId xmlns:a16="http://schemas.microsoft.com/office/drawing/2014/main" id="{8D52728A-7F0F-974B-E744-7FBE87D89651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2C738E-2927-3F2E-18FA-8BAEEBCCE2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6</a:t>
            </a:fld>
            <a:endParaRPr lang="en-IN"/>
          </a:p>
        </p:txBody>
      </p:sp>
      <p:sp>
        <p:nvSpPr>
          <p:cNvPr id="5" name="Google Shape;125;p17">
            <a:extLst>
              <a:ext uri="{FF2B5EF4-FFF2-40B4-BE49-F238E27FC236}">
                <a16:creationId xmlns:a16="http://schemas.microsoft.com/office/drawing/2014/main" id="{E988FC38-79BD-3759-0F84-542BEFF06327}"/>
              </a:ext>
            </a:extLst>
          </p:cNvPr>
          <p:cNvSpPr txBox="1">
            <a:spLocks/>
          </p:cNvSpPr>
          <p:nvPr/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0" b="0" i="0" u="none" strike="noStrike" cap="none" spc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400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Relevance and Importance</a:t>
            </a:r>
            <a:endParaRPr lang="en-IN"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7" name="Google Shape;127;p17">
            <a:extLst>
              <a:ext uri="{FF2B5EF4-FFF2-40B4-BE49-F238E27FC236}">
                <a16:creationId xmlns:a16="http://schemas.microsoft.com/office/drawing/2014/main" id="{3A51073E-2493-9710-D86C-CD19E064C677}"/>
              </a:ext>
            </a:extLst>
          </p:cNvPr>
          <p:cNvSpPr txBox="1">
            <a:spLocks/>
          </p:cNvSpPr>
          <p:nvPr/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 spc="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buClr>
                <a:srgbClr val="888888"/>
              </a:buClr>
              <a:buFont typeface="Calibri"/>
              <a:buNone/>
            </a:pPr>
            <a:fld id="{00000000-1234-1234-1234-123412341234}" type="slidenum">
              <a:rPr lang="en-IN" smtClean="0"/>
              <a:pPr>
                <a:buClr>
                  <a:srgbClr val="888888"/>
                </a:buClr>
                <a:buFont typeface="Calibri"/>
                <a:buNone/>
              </a:pPr>
              <a:t>6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03D00C-9031-995F-D8CB-4B825CBD0148}"/>
              </a:ext>
            </a:extLst>
          </p:cNvPr>
          <p:cNvSpPr txBox="1"/>
          <p:nvPr/>
        </p:nvSpPr>
        <p:spPr>
          <a:xfrm>
            <a:off x="409073" y="1808043"/>
            <a:ext cx="11381873" cy="1620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Personalized Calibration (&lt;10s)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Automatically calculates baseline thresholds (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EAR_thresh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 = mean - 2.5*std) without manual configuration.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57200" lvl="0" indent="-3746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300"/>
              <a:buChar char="•"/>
            </a:pPr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Commercial Relevance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  <a:cs typeface="Cambria"/>
                <a:sym typeface="Cambria"/>
              </a:rPr>
              <a:t>: Reduces fleet accident rates, lowers insurance liabilities, and scales easily across commercial trucking, buses, and ride-shares.</a:t>
            </a:r>
            <a:endParaRPr lang="en-US" sz="2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Google Shape;112;p15">
            <a:extLst>
              <a:ext uri="{FF2B5EF4-FFF2-40B4-BE49-F238E27FC236}">
                <a16:creationId xmlns:a16="http://schemas.microsoft.com/office/drawing/2014/main" id="{B4EFFB20-70A9-BDD5-C3FB-5BB61801F9D5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24681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Literature Review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5" name="Google Shape;135;p1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11" name="Google Shape;112;p15">
            <a:extLst>
              <a:ext uri="{FF2B5EF4-FFF2-40B4-BE49-F238E27FC236}">
                <a16:creationId xmlns:a16="http://schemas.microsoft.com/office/drawing/2014/main" id="{0E828682-989D-41DB-8C59-9E94DEF9E0E7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4682770-D63F-404C-E479-67C8BFB10A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8888630"/>
              </p:ext>
            </p:extLst>
          </p:nvPr>
        </p:nvGraphicFramePr>
        <p:xfrm>
          <a:off x="453189" y="1486275"/>
          <a:ext cx="11285622" cy="4773837"/>
        </p:xfrm>
        <a:graphic>
          <a:graphicData uri="http://schemas.openxmlformats.org/drawingml/2006/table">
            <a:tbl>
              <a:tblPr/>
              <a:tblGrid>
                <a:gridCol w="597569">
                  <a:extLst>
                    <a:ext uri="{9D8B030D-6E8A-4147-A177-3AD203B41FA5}">
                      <a16:colId xmlns:a16="http://schemas.microsoft.com/office/drawing/2014/main" val="155446176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909376619"/>
                    </a:ext>
                  </a:extLst>
                </a:gridCol>
                <a:gridCol w="3064042">
                  <a:extLst>
                    <a:ext uri="{9D8B030D-6E8A-4147-A177-3AD203B41FA5}">
                      <a16:colId xmlns:a16="http://schemas.microsoft.com/office/drawing/2014/main" val="1544989381"/>
                    </a:ext>
                  </a:extLst>
                </a:gridCol>
                <a:gridCol w="1880937">
                  <a:extLst>
                    <a:ext uri="{9D8B030D-6E8A-4147-A177-3AD203B41FA5}">
                      <a16:colId xmlns:a16="http://schemas.microsoft.com/office/drawing/2014/main" val="2837156584"/>
                    </a:ext>
                  </a:extLst>
                </a:gridCol>
                <a:gridCol w="1880937">
                  <a:extLst>
                    <a:ext uri="{9D8B030D-6E8A-4147-A177-3AD203B41FA5}">
                      <a16:colId xmlns:a16="http://schemas.microsoft.com/office/drawing/2014/main" val="1608788269"/>
                    </a:ext>
                  </a:extLst>
                </a:gridCol>
                <a:gridCol w="1880937">
                  <a:extLst>
                    <a:ext uri="{9D8B030D-6E8A-4147-A177-3AD203B41FA5}">
                      <a16:colId xmlns:a16="http://schemas.microsoft.com/office/drawing/2014/main" val="1303210034"/>
                    </a:ext>
                  </a:extLst>
                </a:gridCol>
              </a:tblGrid>
              <a:tr h="1652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Sr.No</a:t>
                      </a:r>
                      <a:endParaRPr lang="en-IN" sz="12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Ref.No</a:t>
                      </a: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(Citation)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Algorithm Used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Dataset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Result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2929209"/>
                  </a:ext>
                </a:extLst>
              </a:tr>
              <a:tr h="512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R1 - </a:t>
                      </a:r>
                      <a:r>
                        <a:rPr lang="en-IN" sz="9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Soukupova</a:t>
                      </a: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&amp; Cech (2016)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EAR + SVM classifier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specified in source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Real-time blink detection demonstrated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EAR scalar characterizes eye openness from 6 landmarks per eye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003961"/>
                  </a:ext>
                </a:extLst>
              </a:tr>
              <a:tr h="396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R3 - Kazemi &amp; Sullivan (2014)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Ensemble of Regression Trees (ERT)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specified in source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~1ms face alignment speed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Basis for </a:t>
                      </a:r>
                      <a:r>
                        <a:rPr lang="en-US" sz="9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dlib's</a:t>
                      </a:r>
                      <a:r>
                        <a:rPr lang="en-US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68-point shape predictor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159991"/>
                  </a:ext>
                </a:extLst>
              </a:tr>
              <a:tr h="396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R4 - Lugaresi et al. (2019)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MediaPipe Face Mesh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specified in source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Real-time mobile/edge inference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468-point landmark tracking optimized for edge devices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9932261"/>
                  </a:ext>
                </a:extLst>
              </a:tr>
              <a:tr h="396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R5 - Multi-Feature Study (2023)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EAR + MAR + PERCLOS fusion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specified in source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specified in source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Adaptive-threshold multi-signal fatigue detection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8293568"/>
                  </a:ext>
                </a:extLst>
              </a:tr>
              <a:tr h="396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R7 - Survey (2024)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CNN / ViT + geometric feature fusion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Multiple (survey)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specified in source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Hybrid geometric + deep learning improves robustness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7423363"/>
                  </a:ext>
                </a:extLst>
              </a:tr>
              <a:tr h="512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da-DK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R8 - Guo et al. (2020)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Zero-DCE (Zero-Reference Deep Curve Estimation)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Low-light image benchmarks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Not specified in source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Low-light enhancement without paired training data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5458447"/>
                  </a:ext>
                </a:extLst>
              </a:tr>
              <a:tr h="512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7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R9 - Pizer et al. (1987)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CLAHE (Contrast Limited Adaptive Histogram Equalization)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N/A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N/A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Localized histogram equalization limits noise amplification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907480"/>
                  </a:ext>
                </a:extLst>
              </a:tr>
              <a:tr h="3965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R10 - Multi-Spectral Study (2022)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Multi-spectral CNN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Thermal + visible imagery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Higher accuracy across all lighting conditions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Multi-spectral fusion outperforms single-spectrum detection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3864483"/>
                  </a:ext>
                </a:extLst>
              </a:tr>
              <a:tr h="512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R11 - NTHU-DDD Benchmark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b-NO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Transformer-based model / Hybrid VGG16+LeNet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NTHU-DDD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99.71% accuracy / 98.69% accuracy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Multi-condition dataset (day/night, glasses/sunglasses occlusion)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728107"/>
                  </a:ext>
                </a:extLst>
              </a:tr>
              <a:tr h="5121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R12 - UTA-RLDD Benchmark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YOLOv5/v8 / KNN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UTA-RLDD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100% precision/recall (mAP@0.5: 99.5%) / 98.89% accuracy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9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60 subjects, naturalistic webcam recordings, 3 alertness states</a:t>
                      </a:r>
                    </a:p>
                  </a:txBody>
                  <a:tcPr marL="47642" marR="47642" marT="23821" marB="238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94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h7f9a4c8fa777841d_0_1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Research Gap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8" name="Google Shape;148;h7f9a4c8fa777841d_0_1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50" name="Google Shape;150;h7f9a4c8fa777841d_0_15"/>
          <p:cNvSpPr txBox="1">
            <a:spLocks noGrp="1"/>
          </p:cNvSpPr>
          <p:nvPr>
            <p:ph type="body" idx="1"/>
          </p:nvPr>
        </p:nvSpPr>
        <p:spPr>
          <a:xfrm>
            <a:off x="149629" y="1417638"/>
            <a:ext cx="11853949" cy="4794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Single-Metric Blind Spot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Most cited work (Soukupová EAR, Garces MAR) validates one signal in isolation, without fusing eye, mouth, and head-pose channels into one real-time classifier.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No Edge-Optimized Multi-Metric Pipeline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PERCLOS and CNN-based approaches are validated on desktop/GPU hardware; none combine INT8-quantized, sub-5ms inference with a 9D multi-signal feature vector on sub-$100 hardware.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Limited NIR / Occlusion Robustness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Reviewed literature (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Dzyakanchuk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Acharjee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) targets visible-light daytime conditions; night driving and sunglasses occlusion are largely unaddressed together.</a:t>
            </a:r>
          </a:p>
        </p:txBody>
      </p:sp>
      <p:sp>
        <p:nvSpPr>
          <p:cNvPr id="3" name="Google Shape;112;p15">
            <a:extLst>
              <a:ext uri="{FF2B5EF4-FFF2-40B4-BE49-F238E27FC236}">
                <a16:creationId xmlns:a16="http://schemas.microsoft.com/office/drawing/2014/main" id="{E5FCC3E1-0A6B-DD92-F127-6038D6E149D6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6;h7f9a4c8fa777841d_0_15">
            <a:extLst>
              <a:ext uri="{FF2B5EF4-FFF2-40B4-BE49-F238E27FC236}">
                <a16:creationId xmlns:a16="http://schemas.microsoft.com/office/drawing/2014/main" id="{772C8CD8-2594-3C64-A637-90FF493DCE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Research Gap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48;h7f9a4c8fa777841d_0_15">
            <a:extLst>
              <a:ext uri="{FF2B5EF4-FFF2-40B4-BE49-F238E27FC236}">
                <a16:creationId xmlns:a16="http://schemas.microsoft.com/office/drawing/2014/main" id="{A4D25ED1-561D-9E26-63C5-04EEF5F0DB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7" name="Google Shape;150;h7f9a4c8fa777841d_0_15">
            <a:extLst>
              <a:ext uri="{FF2B5EF4-FFF2-40B4-BE49-F238E27FC236}">
                <a16:creationId xmlns:a16="http://schemas.microsoft.com/office/drawing/2014/main" id="{9DAA0756-3152-7A47-095C-9C33F08367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9629" y="1417638"/>
            <a:ext cx="11853949" cy="4794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No Personalized Calibration in Embedded Studies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Existing embedded DMS work uses fixed EAR/MAR thresholds, ignoring individual eye-shape variation (e.g.,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monolids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) that causes false alarms.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Gap ALERT Addresses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A per-driver-calibrated, multi-metric (eye + mouth + head-pose), edge-deployable pipeline validated across lighting and eyewear conditions not demonstrated as one system in current literature.</a:t>
            </a:r>
          </a:p>
        </p:txBody>
      </p:sp>
      <p:sp>
        <p:nvSpPr>
          <p:cNvPr id="9" name="Google Shape;112;p15">
            <a:extLst>
              <a:ext uri="{FF2B5EF4-FFF2-40B4-BE49-F238E27FC236}">
                <a16:creationId xmlns:a16="http://schemas.microsoft.com/office/drawing/2014/main" id="{C6F12670-29A7-44DF-9855-2360CD36DEF9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32369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Objectives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2" name="Google Shape;142;p1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7350" algn="l" rtl="0">
              <a:spcBef>
                <a:spcPts val="360"/>
              </a:spcBef>
              <a:spcAft>
                <a:spcPts val="0"/>
              </a:spcAft>
              <a:buSzPts val="2500"/>
              <a:buFont typeface="Cambria"/>
              <a:buChar char="•"/>
            </a:pPr>
            <a:r>
              <a:rPr lang="en-IN" sz="2400" dirty="0"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To prevent fatal road accidents and save lives by detecting driver fatigue and micro-sleeps in real time before loss of vehicle control occurs.</a:t>
            </a:r>
            <a:endParaRPr sz="2400" dirty="0"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7350" algn="l" rtl="0">
              <a:spcBef>
                <a:spcPts val="360"/>
              </a:spcBef>
              <a:spcAft>
                <a:spcPts val="0"/>
              </a:spcAft>
              <a:buSzPts val="2500"/>
              <a:buFont typeface="Cambria"/>
              <a:buChar char="•"/>
            </a:pPr>
            <a:r>
              <a:rPr lang="en-IN" sz="2400" dirty="0"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To develop a completely non-intrusive safety system that monitors driver alertness using standard camera vision without requiring wearable sensors or manual driver setup.</a:t>
            </a:r>
            <a:endParaRPr sz="2400" dirty="0"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7350" algn="l" rtl="0">
              <a:spcBef>
                <a:spcPts val="360"/>
              </a:spcBef>
              <a:spcAft>
                <a:spcPts val="0"/>
              </a:spcAft>
              <a:buSzPts val="2500"/>
              <a:buFont typeface="Cambria"/>
              <a:buChar char="•"/>
            </a:pPr>
            <a:r>
              <a:rPr lang="en-IN" sz="2400" dirty="0"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To ensure 100 percent offline and privacy-preserving operation, enabling reliable fatigue monitoring on highways and tunnels without relying on cellular networks or cloud infrastructure.</a:t>
            </a:r>
            <a:endParaRPr sz="2400" dirty="0"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  <a:p>
            <a:pPr marL="457200" lvl="0" indent="-387350" algn="l" rtl="0">
              <a:spcBef>
                <a:spcPts val="360"/>
              </a:spcBef>
              <a:spcAft>
                <a:spcPts val="0"/>
              </a:spcAft>
              <a:buSzPts val="2500"/>
              <a:buFont typeface="Cambria"/>
              <a:buChar char="•"/>
            </a:pPr>
            <a:r>
              <a:rPr lang="en-IN" sz="2400" dirty="0">
                <a:highlight>
                  <a:schemeClr val="lt1"/>
                </a:highlight>
                <a:latin typeface="Cambria"/>
                <a:ea typeface="Cambria"/>
                <a:cs typeface="Cambria"/>
                <a:sym typeface="Cambria"/>
              </a:rPr>
              <a:t>To build an affordable, edge-deployable solution that can be easily integrated into commercial trucking fleets, public transport, and consumer vehicles.</a:t>
            </a:r>
            <a:endParaRPr sz="2400" dirty="0">
              <a:highlight>
                <a:schemeClr val="lt1"/>
              </a:highlight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43" name="Google Shape;143;p1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3" name="Google Shape;112;p15">
            <a:extLst>
              <a:ext uri="{FF2B5EF4-FFF2-40B4-BE49-F238E27FC236}">
                <a16:creationId xmlns:a16="http://schemas.microsoft.com/office/drawing/2014/main" id="{F4A66ECC-0788-899F-56CC-D266E8FA50FC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Required Dataset, Tools and Technology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1" name="Google Shape;151;p2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0C7A742-2033-9DF3-9405-847ABBE451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351866"/>
              </p:ext>
            </p:extLst>
          </p:nvPr>
        </p:nvGraphicFramePr>
        <p:xfrm>
          <a:off x="609600" y="2267064"/>
          <a:ext cx="10972800" cy="27432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471383027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82072124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8157156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Version / Spec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84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Raspberry Pi 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Edge compute hardware 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4271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NVIDIA Jetson Orin Nano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High-end edge compute platform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7131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Google Coral USB Edge TPU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Edge inference accelerator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$60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6196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Hailo-8L HAT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Edge inference accelerator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13 TOPS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99427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NIR LED arrays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Night-driving illumination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850nm / 940nm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9941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Bandpass optical filters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Optical hardware for NIR imaging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Narrow bandpass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2571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No-IR-Cut camera sensor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Optical hardware for NIR imaging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5670906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D3B33E0C-0EB5-F755-3CED-A59472DD2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707961"/>
            <a:ext cx="382829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Table 1 — Hardware &amp; Optical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Google Shape;112;p15">
            <a:extLst>
              <a:ext uri="{FF2B5EF4-FFF2-40B4-BE49-F238E27FC236}">
                <a16:creationId xmlns:a16="http://schemas.microsoft.com/office/drawing/2014/main" id="{924C5232-CB9A-3388-7101-696C59482FA4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Required Dataset, Tools and Technology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9" name="Google Shape;159;p2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9F5242F-19FF-1A9A-E396-45FD858B9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569300"/>
              </p:ext>
            </p:extLst>
          </p:nvPr>
        </p:nvGraphicFramePr>
        <p:xfrm>
          <a:off x="609600" y="2186781"/>
          <a:ext cx="10972800" cy="34442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9098699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80666457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922203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Version / Spec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2604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OpenCV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Camera I/O, solvePnP, ROI crop, HUD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4.8+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8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MediaPipe FaceLandmarker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3D facial landmark extraction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468 landmarks, 6.7MB </a:t>
                      </a:r>
                      <a:r>
                        <a:rPr lang="en-IN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TFLite</a:t>
                      </a:r>
                      <a:endParaRPr lang="en-IN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4080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XNNPACK CPU delegate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Landmark inference backend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~8-15ms, LIVE_STREAM @ 640x480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2469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LightGBM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Gradient boosted trees (Model A)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4.0+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246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scikit-learn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Preprocessing + RF POC baseline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228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PyTorch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GRU (Model B) + CNN eye-patch (Model 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2.1+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1499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ONNX Runtime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Cross-platform edge serving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1.16+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808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NumPy / SciPy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Feature engineering, EMA drift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2907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imbalanced-learn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SMOTE for L3 class imbalance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08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Pandas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Dataset loading, label alignment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071214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471377CB-C660-F8B0-28DB-BF91C7C77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04238"/>
            <a:ext cx="355738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Table 2 — ML / CV Libraries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Google Shape;112;p15">
            <a:extLst>
              <a:ext uri="{FF2B5EF4-FFF2-40B4-BE49-F238E27FC236}">
                <a16:creationId xmlns:a16="http://schemas.microsoft.com/office/drawing/2014/main" id="{125CA419-5294-180B-C2AD-FC753A031645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2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Required Dataset, Tools and Technology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7" name="Google Shape;167;p2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BAA91D-64E0-C6D6-9DEE-4685022E6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9181171"/>
              </p:ext>
            </p:extLst>
          </p:nvPr>
        </p:nvGraphicFramePr>
        <p:xfrm>
          <a:off x="609600" y="2336668"/>
          <a:ext cx="10972800" cy="231648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63045081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29990996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566688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Technology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Version / Spec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128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Core runtime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3.10+ / 3.11 (dev)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0508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High-performance frame ingestion/inference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C++17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021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Git / VS 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Dev environment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0473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OpenVINO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Edge deployment 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Intel NPU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8977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TensorRT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Edge deployment target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INT8 (Jetson)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615518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B0A68B6-BC78-5FBE-8C62-F4B4D6BAA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842955"/>
            <a:ext cx="4899098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Table 3 — Runtime, Dev &amp; Deployment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Google Shape;112;p15">
            <a:extLst>
              <a:ext uri="{FF2B5EF4-FFF2-40B4-BE49-F238E27FC236}">
                <a16:creationId xmlns:a16="http://schemas.microsoft.com/office/drawing/2014/main" id="{0C45C4B3-BC9C-8550-172F-932FCF57D813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66;p22">
            <a:extLst>
              <a:ext uri="{FF2B5EF4-FFF2-40B4-BE49-F238E27FC236}">
                <a16:creationId xmlns:a16="http://schemas.microsoft.com/office/drawing/2014/main" id="{B8EF498D-5B53-8460-CA63-157D9C733B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Required Dataset, Tools and Technology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" name="Google Shape;167;p22">
            <a:extLst>
              <a:ext uri="{FF2B5EF4-FFF2-40B4-BE49-F238E27FC236}">
                <a16:creationId xmlns:a16="http://schemas.microsoft.com/office/drawing/2014/main" id="{651A481F-AE02-F281-017F-980D51A283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FF18522-8B3F-DDEE-C94C-69A9AD1DFE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509841"/>
              </p:ext>
            </p:extLst>
          </p:nvPr>
        </p:nvGraphicFramePr>
        <p:xfrm>
          <a:off x="609600" y="2194560"/>
          <a:ext cx="10972800" cy="246888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3383344367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3330747166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1874288635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192083449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8679755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Dataset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Subjects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Size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Labels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294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UTA-RLDD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60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~6.4M frames, 95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Alert / Low Vigilance / Drowsy (→ L0-L2)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Primary training set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8181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NTHU-DDD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~14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Drowsy / Non-Drowsy (frame-level)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Glasses occlusion + low-light robustness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6117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YawDD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~8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Normal / Talking / Yawning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Real dashcam perspective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05384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MRL Eye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84,898 images, ~2 GB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Open / Closed (per image)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Trains Model C (CNN eye-patch) only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592454"/>
                  </a:ext>
                </a:extLst>
              </a:tr>
            </a:tbl>
          </a:graphicData>
        </a:graphic>
      </p:graphicFrame>
      <p:sp>
        <p:nvSpPr>
          <p:cNvPr id="11" name="Rectangle 1">
            <a:extLst>
              <a:ext uri="{FF2B5EF4-FFF2-40B4-BE49-F238E27FC236}">
                <a16:creationId xmlns:a16="http://schemas.microsoft.com/office/drawing/2014/main" id="{66FA8723-5DA1-25DC-E282-5E9070238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650594"/>
            <a:ext cx="358784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Table 4 </a:t>
            </a:r>
            <a:r>
              <a:rPr lang="en-US" altLang="en-US" sz="20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—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Training datasets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Google Shape;112;p15">
            <a:extLst>
              <a:ext uri="{FF2B5EF4-FFF2-40B4-BE49-F238E27FC236}">
                <a16:creationId xmlns:a16="http://schemas.microsoft.com/office/drawing/2014/main" id="{9E89B6ED-4E93-7D11-62CF-B6069A35C3CA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2571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Methodology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6" name="Google Shape;176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5" name="Google Shape;112;p15">
            <a:extLst>
              <a:ext uri="{FF2B5EF4-FFF2-40B4-BE49-F238E27FC236}">
                <a16:creationId xmlns:a16="http://schemas.microsoft.com/office/drawing/2014/main" id="{42980200-0986-EAC2-937D-5E469F676498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7E3E4B-BB57-3513-D3EB-306EC126F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6932" y="1249981"/>
            <a:ext cx="9958135" cy="49790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h7f9a4c8fa777841d_0_24"/>
          <p:cNvSpPr txBox="1">
            <a:spLocks noGrp="1"/>
          </p:cNvSpPr>
          <p:nvPr>
            <p:ph type="title"/>
          </p:nvPr>
        </p:nvSpPr>
        <p:spPr>
          <a:xfrm>
            <a:off x="609600" y="227151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Result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3" name="Google Shape;183;h7f9a4c8fa777841d_0_2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POC Classifier Performance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The Random Forest baseline (30 trees) achieves 100% precision/recall on the synthetic 9D benchmark feature matrix — confirming the feature engineering (EAR, PERCLOS, MAR, MOE, head pitch) cleanly separates the four fatigue classes.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Real-Time Pipeline Validated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Live webcam HUD (orchestrator.py) successfully runs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MediaPipe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landmark extraction, 10-second calibration, and live L0–L3 classification with on-screen probability breakdown.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Inference Speed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Classifier inference measured at sub-3ms per frame, consistent with edge-latency targets.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Caveat to state honestly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These results are on synthetic/POC data, not yet the real-world benchmark datasets (UTA-RLDD, NTHU-DDD,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YawDD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, MRL Eye) — real-dataset evaluation is pending (see Future Work).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mbria"/>
              <a:sym typeface="Cambria"/>
            </a:endParaRPr>
          </a:p>
        </p:txBody>
      </p:sp>
      <p:sp>
        <p:nvSpPr>
          <p:cNvPr id="185" name="Google Shape;185;h7f9a4c8fa777841d_0_2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sp>
        <p:nvSpPr>
          <p:cNvPr id="3" name="Google Shape;112;p15">
            <a:extLst>
              <a:ext uri="{FF2B5EF4-FFF2-40B4-BE49-F238E27FC236}">
                <a16:creationId xmlns:a16="http://schemas.microsoft.com/office/drawing/2014/main" id="{3F33A305-574C-EDA1-7F2B-909BDF4CACA0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h7f9a4c8fa777841d_0_32"/>
          <p:cNvSpPr txBox="1">
            <a:spLocks noGrp="1"/>
          </p:cNvSpPr>
          <p:nvPr>
            <p:ph type="title"/>
          </p:nvPr>
        </p:nvSpPr>
        <p:spPr>
          <a:xfrm>
            <a:off x="609600" y="27204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Conclusion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92" name="Google Shape;192;h7f9a4c8fa777841d_0_3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ALERT 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demonstrates that a fully offline, edge-deployable driver fatigue detection pipeline is technically feasible using </a:t>
            </a:r>
            <a:r>
              <a:rPr lang="en-US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MediaPipe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 landmarks and a compact multi-signal feature vector.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POC validates the core hypothesis: geometric + temporal features (EAR, PERCLOS, MAR, head pose) are sufficient for a classical ML model to separate fatigue severity levels with high accuracy on controlled data.</a:t>
            </a:r>
          </a:p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The architecture is designed from the outset for sub-5ms, sub-$100 edge hardware, directly addressing the connectivity, latency, and privacy gaps of cloud-based DMS alternatives.</a:t>
            </a:r>
          </a:p>
          <a:p>
            <a:r>
              <a:rPr lang="en-US" sz="2400" b="1" dirty="0">
                <a:latin typeface="Cambria" panose="02040503050406030204" pitchFamily="18" charset="0"/>
                <a:ea typeface="Cambria" panose="02040503050406030204" pitchFamily="18" charset="0"/>
              </a:rPr>
              <a:t>Current stage is Proof-of-Concept only</a:t>
            </a:r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; production-grade accuracy claims require training and validation on real driver datasets, which is the immediate next step.</a:t>
            </a:r>
          </a:p>
        </p:txBody>
      </p:sp>
      <p:sp>
        <p:nvSpPr>
          <p:cNvPr id="194" name="Google Shape;194;h7f9a4c8fa777841d_0_3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sp>
        <p:nvSpPr>
          <p:cNvPr id="3" name="Google Shape;112;p15">
            <a:extLst>
              <a:ext uri="{FF2B5EF4-FFF2-40B4-BE49-F238E27FC236}">
                <a16:creationId xmlns:a16="http://schemas.microsoft.com/office/drawing/2014/main" id="{BAC35B84-45C8-4A6D-DF1F-A874557554FA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7f9a4c8fa777841d_0_40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Future Work</a:t>
            </a:r>
            <a:endParaRPr dirty="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1" name="Google Shape;201;h7f9a4c8fa777841d_0_40"/>
          <p:cNvSpPr txBox="1">
            <a:spLocks noGrp="1"/>
          </p:cNvSpPr>
          <p:nvPr>
            <p:ph type="body" idx="1"/>
          </p:nvPr>
        </p:nvSpPr>
        <p:spPr>
          <a:xfrm>
            <a:off x="609600" y="1623944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Real-Dataset Training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Train and validate on UTA-RLDD, NTHU-DDD,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YawDD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, and MRL Eye datasets to replace/augment the synthetic POC data.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Ensemble Model Completion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Implement and fuse the full 3-model architecture (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LightGBM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 + GRU sequence model + CNN eye-patch classifier) described in the technical design, beyond the current single Random Forest.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NIR Hardware Integration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Add 850/940nm near-infrared illumination and camera support for night-driving and eyewear-occlusion robustness.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Edge Deployment &amp; Quantization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Port the pipeline to Raspberry Pi 5 / Jetson Orin Nano with INT8 quantization (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TensorRT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/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</a:rPr>
              <a:t>OpenVINO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) to hit the sub-5ms target on real hardware.</a:t>
            </a:r>
          </a:p>
          <a:p>
            <a:r>
              <a:rPr lang="en-IN" sz="2400" b="1" dirty="0">
                <a:latin typeface="Cambria" panose="02040503050406030204" pitchFamily="18" charset="0"/>
                <a:ea typeface="Cambria" panose="02040503050406030204" pitchFamily="18" charset="0"/>
              </a:rPr>
              <a:t>Fleet &amp; Vehicle Integration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</a:rPr>
              <a:t>: Add CAN bus / buzzer / seat-vibration output hooks for real vehicle deployment and pilot testing.</a:t>
            </a:r>
          </a:p>
        </p:txBody>
      </p:sp>
      <p:sp>
        <p:nvSpPr>
          <p:cNvPr id="203" name="Google Shape;203;h7f9a4c8fa777841d_0_4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sp>
        <p:nvSpPr>
          <p:cNvPr id="3" name="Google Shape;112;p15">
            <a:extLst>
              <a:ext uri="{FF2B5EF4-FFF2-40B4-BE49-F238E27FC236}">
                <a16:creationId xmlns:a16="http://schemas.microsoft.com/office/drawing/2014/main" id="{ACC10C53-E9ED-BEE0-F4E9-41A0217EF641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60960" lvl="0">
              <a:spcBef>
                <a:spcPts val="640"/>
              </a:spcBef>
              <a:buSzPct val="100000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References</a:t>
            </a:r>
          </a:p>
        </p:txBody>
      </p:sp>
      <p:sp>
        <p:nvSpPr>
          <p:cNvPr id="190" name="Google Shape;190;p25"/>
          <p:cNvSpPr txBox="1">
            <a:spLocks noGrp="1"/>
          </p:cNvSpPr>
          <p:nvPr>
            <p:ph type="body" idx="1"/>
          </p:nvPr>
        </p:nvSpPr>
        <p:spPr>
          <a:xfrm>
            <a:off x="609600" y="1417638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[1]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Soukupova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, T., &amp; Cech, J. (2016). Real-Time Eye Blink Detection Using Facial Landmarks. Computer Vision Winter Workshop.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[2] Dinges, D. F., &amp; Grace, R. (1998). PERCLOS: A Valid Psychophysiological Measure of Alertness. US Dept of Transportation.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[3]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Dzyakanchuk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, A., et al. (2022). Low-Power Face Detection on Raspberry Pi for Automotive DMS. IEEE Access.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[4]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Acharjee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, S., et al. (2020). Edge-Based Driver Drowsiness Monitoring on Embedded Hardware. SN Computer Science.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[5] Garces, M., et al. (2021). Automated Yawn Detection Using Mouth Aspect Ratio. IEEE Sensors Journal.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91" name="Google Shape;191;p2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sp>
        <p:nvSpPr>
          <p:cNvPr id="3" name="Google Shape;112;p15">
            <a:extLst>
              <a:ext uri="{FF2B5EF4-FFF2-40B4-BE49-F238E27FC236}">
                <a16:creationId xmlns:a16="http://schemas.microsoft.com/office/drawing/2014/main" id="{62B8DE4A-BB89-E88E-4CB3-BE4D2646F385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89;p25">
            <a:extLst>
              <a:ext uri="{FF2B5EF4-FFF2-40B4-BE49-F238E27FC236}">
                <a16:creationId xmlns:a16="http://schemas.microsoft.com/office/drawing/2014/main" id="{51A75D3F-BD4E-25D4-0C8B-35C40823757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60960" lvl="0">
              <a:spcBef>
                <a:spcPts val="640"/>
              </a:spcBef>
              <a:buSzPct val="100000"/>
            </a:pPr>
            <a:r>
              <a:rPr lang="en-IN" dirty="0">
                <a:latin typeface="Cambria"/>
                <a:ea typeface="Cambria"/>
                <a:cs typeface="Cambria"/>
                <a:sym typeface="Cambria"/>
              </a:rPr>
              <a:t>References</a:t>
            </a:r>
          </a:p>
        </p:txBody>
      </p:sp>
      <p:sp>
        <p:nvSpPr>
          <p:cNvPr id="6" name="Google Shape;190;p25">
            <a:extLst>
              <a:ext uri="{FF2B5EF4-FFF2-40B4-BE49-F238E27FC236}">
                <a16:creationId xmlns:a16="http://schemas.microsoft.com/office/drawing/2014/main" id="{8D125794-EB49-BFA2-8808-35AE3F8C6B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255296"/>
            <a:ext cx="109728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[6]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MediaPipe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 Face Mesh Topology (468 3D Landmarks). Google AI Edge Documentation (2023).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[7] NVIDIA </a:t>
            </a:r>
            <a:r>
              <a:rPr lang="en-IN" sz="2400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TensorRT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 INT8 Developer Guide for Jetson Orin Platform (2024).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457200" lvl="0" indent="-3492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900"/>
              <a:buChar char="•"/>
            </a:pP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[8] Hailo-8L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Cambria"/>
              </a:rPr>
              <a:t>Dataflow Compiler &amp; Software </a:t>
            </a:r>
            <a:r>
              <a:rPr lang="en-IN" sz="2400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mbria"/>
              </a:rPr>
              <a:t>Suite User Guide (2024).</a:t>
            </a:r>
            <a:endParaRPr sz="2400" dirty="0"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7" name="Google Shape;191;p25">
            <a:extLst>
              <a:ext uri="{FF2B5EF4-FFF2-40B4-BE49-F238E27FC236}">
                <a16:creationId xmlns:a16="http://schemas.microsoft.com/office/drawing/2014/main" id="{7785D66B-A550-583B-F689-6342876C20D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sp>
        <p:nvSpPr>
          <p:cNvPr id="9" name="Google Shape;112;p15">
            <a:extLst>
              <a:ext uri="{FF2B5EF4-FFF2-40B4-BE49-F238E27FC236}">
                <a16:creationId xmlns:a16="http://schemas.microsoft.com/office/drawing/2014/main" id="{5D07AA46-9B2D-F70C-71F6-36AD28F51D45}"/>
              </a:ext>
            </a:extLst>
          </p:cNvPr>
          <p:cNvSpPr txBox="1"/>
          <p:nvPr/>
        </p:nvSpPr>
        <p:spPr>
          <a:xfrm>
            <a:off x="3048000" y="6260112"/>
            <a:ext cx="6096000" cy="492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 </a:t>
            </a:r>
            <a:endParaRPr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I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*Proprietary material of SILVER OAK UNIVERSITY</a:t>
            </a:r>
            <a:endParaRPr sz="18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335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2145</Words>
  <Application>Microsoft Office PowerPoint</Application>
  <PresentationFormat>Widescreen</PresentationFormat>
  <Paragraphs>314</Paragraphs>
  <Slides>20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Cambria</vt:lpstr>
      <vt:lpstr>Times New Roman</vt:lpstr>
      <vt:lpstr>Office Theme</vt:lpstr>
      <vt:lpstr>PowerPoint Presentation</vt:lpstr>
      <vt:lpstr>Index</vt:lpstr>
      <vt:lpstr>Introduction</vt:lpstr>
      <vt:lpstr>Background and Motivation</vt:lpstr>
      <vt:lpstr>Relevance and Importance</vt:lpstr>
      <vt:lpstr>PowerPoint Presentation</vt:lpstr>
      <vt:lpstr>Literature Review</vt:lpstr>
      <vt:lpstr>Research Gap</vt:lpstr>
      <vt:lpstr>Research Gap</vt:lpstr>
      <vt:lpstr>Objectives</vt:lpstr>
      <vt:lpstr>Required Dataset, Tools and Technology</vt:lpstr>
      <vt:lpstr>Required Dataset, Tools and Technology</vt:lpstr>
      <vt:lpstr>Required Dataset, Tools and Technology</vt:lpstr>
      <vt:lpstr>Required Dataset, Tools and Technology</vt:lpstr>
      <vt:lpstr>Methodology</vt:lpstr>
      <vt:lpstr>Result</vt:lpstr>
      <vt:lpstr>Conclusion</vt:lpstr>
      <vt:lpstr>Future Work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kavya</dc:creator>
  <cp:lastModifiedBy>kavya kothari</cp:lastModifiedBy>
  <cp:revision>6</cp:revision>
  <dcterms:modified xsi:type="dcterms:W3CDTF">2026-09-25T12:23:40Z</dcterms:modified>
</cp:coreProperties>
</file>